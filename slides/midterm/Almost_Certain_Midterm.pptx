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Question" id="{a76ea92c-97a9-eb95-a875-8f9deaf014bf}">
          <p14:sldIdLst>
            <p14:sldId id="256"/>
            <p14:sldId id="257"/>
          </p14:sldIdLst>
        </p14:section>
        <p14:section name="Data" id="{05de5d42-4879-8326-8d07-38e8e0ba1ba8}">
          <p14:sldIdLst>
            <p14:sldId id="258"/>
          </p14:sldIdLst>
        </p14:section>
        <p14:section name="Exploration" id="{1d0d25d9-a459-0544-c6f6-5a56eaf64124}">
          <p14:sldIdLst>
            <p14:sldId id="259"/>
            <p14:sldId id="260"/>
            <p14:sldId id="261"/>
          </p14:sldIdLst>
        </p14:section>
        <p14:section name="Favorites" id="{a71f9c3d-23a4-6863-189a-fc351487c921}">
          <p14:sldIdLst>
            <p14:sldId id="262"/>
            <p14:sldId id="263"/>
          </p14:sldIdLst>
        </p14:section>
        <p14:section name="Models" id="{e15a02f1-3b1c-88f2-0b8a-77b6097c87fa}">
          <p14:sldIdLst>
            <p14:sldId id="264"/>
            <p14:sldId id="265"/>
            <p14:sldId id="266"/>
          </p14:sldIdLst>
        </p14:section>
        <p14:section name="Close" id="{0d0e7446-00fe-9e93-0f13-df024e384fd3}">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0:30. We explored every hourly price on Kalshi for three weeks of October, then zoomed in on contracts priced 90 to 99 cents, the near-sure things, to see whether they are as safe as their price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0:45. Three questions. First, what is actually traded on Kalshi. Second, are prices accurate, first across the whole range, then for favorites. Third, can a model predict which favorites lose better than the price already does. Favorites matter because the payoff is so lopsided: one loss at 99 cents erases 99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We pulled every hourly candle in the course database, 7.17 million rows covering 840 thousand markets, before access closes on Thursday. One thing EDA showed immediately: the record has holes. Some days have 24 hours, others one or none. And many rows were backfilled after the market closed. So everything we show is a retrospective look, not what a trader saw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Blue is share of contracts traded, gray is share of markets listed. Sports is three quarters of all trading; crypto is listed heavily but trades less. Trading is extremely concentrated: one percent of markets carry 82% of the volume, and most markets never trade at all. The categories our final project is about are a sliver of volume, which matters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0:50. Left, where prices sit: most quotes are cheap long shots, because an event like 'who wins' lists one market per candidate. Right, how wide the bid-ask spread is: tight at the extremes, widest at 50 cents where uncertainty is highest. Also, 89% of hourly candles have zero volume, so volume is mostly zeros, a hint for why it will not help our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1:10. We took every finalized market's first quote and compared the price with how often it actually won. Plotted as a gap, prices are within half a point on average. But at the ends there is the classic favorite–long-shot bias: cheap long shots win less often than their price, and heavy favorites win slightly more often. That makes favorites look like a possible edge, so we zoom in on them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Now only the favorites: 10,351 markets whose first good quote was 90 to 99 cents, 513 of which lost. By category, most sit at their implied loss rate, the dark tick. Economics is the exception: 7 losses where the price implied about 53. Markets in one event move together, so we bootstrapped whole events; the interval still excludes zero, and it held in all three time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0:40. Splitting favorites by how far away the event was: they lose about as often as priced, except right at or after the start, where they lose less. The effect is small and moves around between periods, so we treat it as a feature for the models rather than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We split by time, the way a forecaster would face it, and kept every event inside one split so related markets cannot leak across. Features are all known at the entry hour. We tuned three course models on the validation period by Brier score, the mean squared error of a probability, refit on train plus validation, and scored the test period once. Every model is fit with and without volume to isolate what volume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Each dot is a model's test Brier minus the price's; left of zero would beat the price, and none do clearly. The regularized logistic regression essentially ties the price, because it shrank everything except price-like features to zero. The tree models fit training data better and test data worse: bias versus variance. Consistent with the EDA, volume adds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0:40. If you bought one contract of every test favorite at the ask and held it, 95% would win and you would still be down about 20 dollars before fees. Buying at the ask rather than the midpoint eats the small favorite edge we saw in the calibration plot, and the result flips sign between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0:45. Three takeaways: what Kalshi trades, how accurate its prices are, and that favorites are not free money. For the final we look at the other end of the calibration plot: long shots that won, and whether informed trading shows up before the news. Then questions. Total talk is about 10:20, leaving four to five minutes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class and open the floor for questions (about 4 to 5 minutes remain in the 15-minute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UE">
    <p:bg>
      <p:bgPr>
        <a:solidFill>
          <a:srgbClr val="2774A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868680"/>
          </a:xfrm>
          <a:prstGeom prst="rect">
            <a:avLst/>
          </a:prstGeom>
          <a:noFill/>
          <a:ln/>
        </p:spPr>
        <p:txBody>
          <a:bodyPr wrap="square" rtlCol="0"/>
          <a:lstStyle>
            <a:lvl1pPr algn="l" indent="0" marL="0">
              <a:buNone/>
              <a:defRPr lang="en-US" sz="4200" b="1" dirty="0">
                <a:solidFill>
                  <a:srgbClr val="FFFFFF"/>
                </a:solidFill>
                <a:latin typeface="Arial" pitchFamily="34" charset="0"/>
                <a:ea typeface="Arial" pitchFamily="34" charset="-122"/>
                <a:cs typeface="Arial" pitchFamily="34" charset="-120"/>
              </a:defRPr>
            </a:lvl1pPr>
          </a:lstStyle>
          <a:p>
            <a:pPr algn="l" indent="0" marL="0">
              <a:buNone/>
            </a:pPr>
            <a:endParaRPr lang="en-US" sz="4200" dirty="0"/>
          </a:p>
        </p:txBody>
      </p:sp>
      <p:sp>
        <p:nvSpPr>
          <p:cNvPr id="3" name="Text 0"/>
          <p:cNvSpPr/>
          <p:nvPr>
            <p:ph idx="101" type="body" hasCustomPrompt="1"/>
          </p:nvPr>
        </p:nvSpPr>
        <p:spPr>
          <a:xfrm>
            <a:off x="548640" y="2423160"/>
            <a:ext cx="8046720" cy="2103120"/>
          </a:xfrm>
          <a:prstGeom prst="rect">
            <a:avLst/>
          </a:prstGeom>
          <a:noFill/>
          <a:ln/>
        </p:spPr>
        <p:txBody>
          <a:bodyPr wrap="square" rtlCol="0"/>
          <a:lstStyle>
            <a:lvl1pPr algn="l" indent="0" marL="0">
              <a:buNone/>
              <a:defRPr lang="en-US" sz="1800" dirty="0">
                <a:solidFill>
                  <a:srgbClr val="FFFFFF"/>
                </a:solidFill>
                <a:latin typeface="Arial" pitchFamily="34" charset="0"/>
                <a:ea typeface="Arial" pitchFamily="34" charset="-122"/>
                <a:cs typeface="Arial"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28600"/>
          </a:xfrm>
          <a:prstGeom prst="rect">
            <a:avLst/>
          </a:prstGeom>
          <a:noFill/>
          <a:ln/>
        </p:spPr>
        <p:txBody>
          <a:bodyPr wrap="square" rtlCol="0"/>
          <a:lstStyle>
            <a:lvl1pPr indent="0" marL="0">
              <a:buNone/>
              <a:defRPr lang="en-US" sz="1100" b="1" spc="100" kern="0" dirty="0">
                <a:solidFill>
                  <a:srgbClr val="2774AE"/>
                </a:solidFill>
                <a:latin typeface="Arial" pitchFamily="34" charset="0"/>
                <a:ea typeface="Arial" pitchFamily="34" charset="-122"/>
                <a:cs typeface="Arial" pitchFamily="34" charset="-120"/>
              </a:defRPr>
            </a:lvl1pPr>
          </a:lstStyle>
          <a:p>
            <a:pPr indent="0" marL="0">
              <a:buNone/>
            </a:pPr>
            <a:endParaRPr lang="en-US" sz="1100" dirty="0"/>
          </a:p>
        </p:txBody>
      </p:sp>
      <p:sp>
        <p:nvSpPr>
          <p:cNvPr id="3" name="Text 0"/>
          <p:cNvSpPr/>
          <p:nvPr>
            <p:ph idx="101" type="title" hasCustomPrompt="1"/>
          </p:nvPr>
        </p:nvSpPr>
        <p:spPr>
          <a:xfrm>
            <a:off x="457200" y="429768"/>
            <a:ext cx="8229600" cy="502920"/>
          </a:xfrm>
          <a:prstGeom prst="rect">
            <a:avLst/>
          </a:prstGeom>
          <a:noFill/>
          <a:ln/>
        </p:spPr>
        <p:txBody>
          <a:bodyPr wrap="square" rtlCol="0"/>
          <a:lstStyle>
            <a:lvl1pPr algn="l" indent="0" marL="0">
              <a:buNone/>
              <a:defRPr lang="en-US" sz="2600" b="1" dirty="0">
                <a:solidFill>
                  <a:srgbClr val="005587"/>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4" name="Text 0"/>
          <p:cNvSpPr/>
          <p:nvPr/>
        </p:nvSpPr>
        <p:spPr>
          <a:xfrm>
            <a:off x="457200" y="4818888"/>
            <a:ext cx="4572000" cy="201168"/>
          </a:xfrm>
          <a:prstGeom prst="rect">
            <a:avLst/>
          </a:prstGeom>
          <a:noFill/>
          <a:ln/>
        </p:spPr>
        <p:txBody>
          <a:bodyPr wrap="square" lIns="0" tIns="0" rIns="0" bIns="0" rtlCol="0" anchor="ctr"/>
          <a:lstStyle/>
          <a:p>
            <a:pPr indent="0" marL="0">
              <a:buNone/>
            </a:pPr>
            <a:r>
              <a:rPr lang="en-US" sz="900" dirty="0">
                <a:solidFill>
                  <a:srgbClr val="666666"/>
                </a:solidFill>
                <a:latin typeface="Arial" pitchFamily="34" charset="0"/>
                <a:ea typeface="Arial" pitchFamily="34" charset="-122"/>
                <a:cs typeface="Arial" pitchFamily="34" charset="-120"/>
              </a:rPr>
              <a:t>STATS 414  ·  The 99-Cent Question</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868680"/>
          </a:xfrm>
          <a:prstGeom prst="rect">
            <a:avLst/>
          </a:prstGeom>
          <a:noFill/>
          <a:ln/>
        </p:spPr>
        <p:txBody>
          <a:bodyPr wrap="square" lIns="0" tIns="0" rIns="0" bIns="0" rtlCol="0" anchor="b"/>
          <a:lstStyle/>
          <a:p>
            <a:pPr algn="l" indent="0" marL="0">
              <a:buNone/>
            </a:pPr>
            <a:r>
              <a:rPr lang="en-US" sz="4200" b="1" dirty="0">
                <a:solidFill>
                  <a:srgbClr val="FFFFFF"/>
                </a:solidFill>
                <a:latin typeface="Arial" pitchFamily="34" charset="0"/>
                <a:ea typeface="Arial" pitchFamily="34" charset="-122"/>
                <a:cs typeface="Arial" pitchFamily="34" charset="-120"/>
              </a:rPr>
              <a:t>The 99-Cent Question: How Accurate Are Kalshi’s Odds?</a:t>
            </a:r>
            <a:endParaRPr lang="en-US" sz="4200" dirty="0"/>
          </a:p>
        </p:txBody>
      </p:sp>
      <p:sp>
        <p:nvSpPr>
          <p:cNvPr id="3" name="Text 0"/>
          <p:cNvSpPr/>
          <p:nvPr>
            <p:ph idx="101" type="body" hasCustomPrompt="1"/>
          </p:nvPr>
        </p:nvSpPr>
        <p:spPr>
          <a:xfrm>
            <a:off x="548640" y="2423160"/>
            <a:ext cx="8046720" cy="2103120"/>
          </a:xfrm>
          <a:prstGeom prst="rect">
            <a:avLst/>
          </a:prstGeom>
          <a:noFill/>
          <a:ln/>
        </p:spPr>
        <p:txBody>
          <a:bodyPr wrap="square" lIns="0" tIns="0" rIns="0" bIns="0" rtlCol="0" anchor="t"/>
          <a:lstStyle/>
          <a:p>
            <a:pPr algn="l" indent="0" marL="0">
              <a:buNone/>
            </a:pPr>
            <a:r>
              <a:rPr lang="en-US" sz="1800" dirty="0">
                <a:solidFill>
                  <a:srgbClr val="FFFFFF"/>
                </a:solidFill>
                <a:latin typeface="Arial" pitchFamily="34" charset="0"/>
                <a:ea typeface="Arial" pitchFamily="34" charset="-122"/>
                <a:cs typeface="Arial" pitchFamily="34" charset="-120"/>
              </a:rPr>
              <a:t>What 7 million hourly prices say about Kalshi, and whether 90–99¢ favorites are as safe as they look</a:t>
            </a:r>
            <a:endParaRPr lang="en-US" sz="1800" dirty="0"/>
          </a:p>
          <a:p>
            <a:pPr algn="l" indent="0" marL="0">
              <a:buNone/>
            </a:pPr>
            <a:r>
              <a:rPr lang="en-US" sz="1200" dirty="0">
                <a:solidFill>
                  <a:srgbClr val="FFFFFF"/>
                </a:solidFill>
                <a:latin typeface="Arial" pitchFamily="34" charset="0"/>
                <a:ea typeface="Arial" pitchFamily="34" charset="-122"/>
                <a:cs typeface="Arial" pitchFamily="34" charset="-120"/>
              </a:rPr>
              <a:t> </a:t>
            </a:r>
            <a:endParaRPr lang="en-US" sz="1800" dirty="0"/>
          </a:p>
          <a:p>
            <a:pPr algn="l" indent="0" marL="0">
              <a:buNone/>
            </a:pPr>
            <a:r>
              <a:rPr lang="en-US" sz="1400" b="1" spc="100" kern="0" dirty="0">
                <a:solidFill>
                  <a:srgbClr val="FFD100"/>
                </a:solidFill>
                <a:latin typeface="Arial" pitchFamily="34" charset="0"/>
                <a:ea typeface="Arial" pitchFamily="34" charset="-122"/>
                <a:cs typeface="Arial" pitchFamily="34" charset="-120"/>
              </a:rPr>
              <a:t>STATS 414 MIDTERM  ·  OCTOBER 28, 2026</a:t>
            </a:r>
            <a:endParaRPr lang="en-US" sz="1800" dirty="0"/>
          </a:p>
          <a:p>
            <a:pPr algn="l" indent="0" marL="0">
              <a:buNone/>
            </a:pPr>
            <a:r>
              <a:rPr lang="en-US" sz="1400" dirty="0">
                <a:solidFill>
                  <a:srgbClr val="FFFFFF"/>
                </a:solidFill>
                <a:latin typeface="Arial" pitchFamily="34" charset="0"/>
                <a:ea typeface="Arial" pitchFamily="34" charset="-122"/>
                <a:cs typeface="Arial" pitchFamily="34" charset="-120"/>
              </a:rPr>
              <a:t>Juan Cortes-Aguiar  ·  Ravikiran Madichetty  ·  Ashish Singh</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28600"/>
          </a:xfrm>
          <a:prstGeom prst="rect">
            <a:avLst/>
          </a:prstGeom>
          <a:noFill/>
          <a:ln/>
        </p:spPr>
        <p:txBody>
          <a:bodyPr wrap="square" lIns="0" tIns="0" rIns="0" bIns="0" rtlCol="0"/>
          <a:lstStyle/>
          <a:p>
            <a:pPr indent="0" marL="0">
              <a:buNone/>
            </a:pPr>
            <a:r>
              <a:rPr lang="en-US" sz="1100" b="1" spc="100" kern="0" dirty="0">
                <a:solidFill>
                  <a:srgbClr val="2774AE"/>
                </a:solidFill>
                <a:latin typeface="Arial" pitchFamily="34" charset="0"/>
                <a:ea typeface="Arial" pitchFamily="34" charset="-122"/>
                <a:cs typeface="Arial" pitchFamily="34" charset="-120"/>
              </a:rPr>
              <a:t>ROADMAP</a:t>
            </a:r>
            <a:endParaRPr lang="en-US" sz="1100" dirty="0"/>
          </a:p>
        </p:txBody>
      </p:sp>
      <p:sp>
        <p:nvSpPr>
          <p:cNvPr id="3" name="Text 0"/>
          <p:cNvSpPr/>
          <p:nvPr>
            <p:ph idx="101" type="title" hasCustomPrompt="1"/>
          </p:nvPr>
        </p:nvSpPr>
        <p:spPr>
          <a:xfrm>
            <a:off x="457200" y="429768"/>
            <a:ext cx="8229600" cy="502920"/>
          </a:xfrm>
          <a:prstGeom prst="rect">
            <a:avLst/>
          </a:prstGeom>
          <a:noFill/>
          <a:ln/>
        </p:spPr>
        <p:txBody>
          <a:bodyPr wrap="square" lIns="0" tIns="0" rIns="0" bIns="0" rtlCol="0" anchor="ctr"/>
          <a:lstStyle/>
          <a:p>
            <a:pPr algn="l" indent="0" marL="0">
              <a:buNone/>
            </a:pPr>
            <a:r>
              <a:rPr lang="en-US" sz="2600" b="1" dirty="0">
                <a:solidFill>
                  <a:srgbClr val="005587"/>
                </a:solidFill>
                <a:latin typeface="Arial" pitchFamily="34" charset="0"/>
                <a:ea typeface="Arial" pitchFamily="34" charset="-122"/>
                <a:cs typeface="Arial" pitchFamily="34" charset="-120"/>
              </a:rPr>
              <a:t>Three questions about Kalshi prices</a:t>
            </a:r>
            <a:endParaRPr lang="en-US" sz="2600" dirty="0"/>
          </a:p>
        </p:txBody>
      </p:sp>
      <p:sp>
        <p:nvSpPr>
          <p:cNvPr id="4" name="q-1"/>
          <p:cNvSpPr/>
          <p:nvPr/>
        </p:nvSpPr>
        <p:spPr>
          <a:xfrm>
            <a:off x="457200" y="1097280"/>
            <a:ext cx="2560320" cy="1828800"/>
          </a:xfrm>
          <a:prstGeom prst="roundRect">
            <a:avLst>
              <a:gd name="adj" fmla="val 4000"/>
            </a:avLst>
          </a:prstGeom>
          <a:solidFill>
            <a:srgbClr val="DAEBFE"/>
          </a:solidFill>
          <a:ln w="12700">
            <a:solidFill>
              <a:srgbClr val="DAEBFE"/>
            </a:solidFill>
            <a:prstDash val="solid"/>
          </a:ln>
        </p:spPr>
      </p:sp>
      <p:sp>
        <p:nvSpPr>
          <p:cNvPr id="5" name="Text 3"/>
          <p:cNvSpPr txBox="1"/>
          <p:nvPr/>
        </p:nvSpPr>
        <p:spPr>
          <a:xfrm>
            <a:off x="640080" y="1188720"/>
            <a:ext cx="548640" cy="548640"/>
          </a:xfrm>
          <a:prstGeom prst="rect">
            <a:avLst/>
          </a:prstGeom>
          <a:noFill/>
          <a:ln/>
        </p:spPr>
        <p:txBody>
          <a:bodyPr wrap="square" lIns="0" tIns="0" rIns="0" bIns="0" rtlCol="0" anchor="t"/>
          <a:lstStyle/>
          <a:p>
            <a:pPr indent="0" marL="0">
              <a:buNone/>
            </a:pPr>
            <a:r>
              <a:rPr lang="en-US" sz="3200" b="1" dirty="0">
                <a:solidFill>
                  <a:srgbClr val="2774AE"/>
                </a:solidFill>
                <a:latin typeface="Arial" pitchFamily="34" charset="0"/>
                <a:ea typeface="Arial" pitchFamily="34" charset="-122"/>
                <a:cs typeface="Arial" pitchFamily="34" charset="-120"/>
              </a:rPr>
              <a:t>1</a:t>
            </a:r>
            <a:endParaRPr lang="en-US" sz="3200" dirty="0"/>
          </a:p>
        </p:txBody>
      </p:sp>
      <p:sp>
        <p:nvSpPr>
          <p:cNvPr id="6" name="Text 4"/>
          <p:cNvSpPr txBox="1"/>
          <p:nvPr/>
        </p:nvSpPr>
        <p:spPr>
          <a:xfrm>
            <a:off x="640080" y="1783080"/>
            <a:ext cx="2194560" cy="457200"/>
          </a:xfrm>
          <a:prstGeom prst="rect">
            <a:avLst/>
          </a:prstGeom>
          <a:noFill/>
          <a:ln/>
        </p:spPr>
        <p:txBody>
          <a:bodyPr wrap="square" lIns="0" tIns="0" rIns="0" bIns="0" rtlCol="0" anchor="t"/>
          <a:lstStyle/>
          <a:p>
            <a:pPr indent="0" marL="0">
              <a:buNone/>
            </a:pPr>
            <a:r>
              <a:rPr lang="en-US" sz="1500" b="1" dirty="0">
                <a:solidFill>
                  <a:srgbClr val="005587"/>
                </a:solidFill>
                <a:latin typeface="Arial" pitchFamily="34" charset="0"/>
                <a:ea typeface="Arial" pitchFamily="34" charset="-122"/>
                <a:cs typeface="Arial" pitchFamily="34" charset="-120"/>
              </a:rPr>
              <a:t>What does Kalshi trade?</a:t>
            </a:r>
            <a:endParaRPr lang="en-US" sz="1500" dirty="0"/>
          </a:p>
        </p:txBody>
      </p:sp>
      <p:sp>
        <p:nvSpPr>
          <p:cNvPr id="7" name="Text 5"/>
          <p:cNvSpPr txBox="1"/>
          <p:nvPr/>
        </p:nvSpPr>
        <p:spPr>
          <a:xfrm>
            <a:off x="640080" y="2240280"/>
            <a:ext cx="2194560" cy="64008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Markets, volume and liquidity across 840,000 markets</a:t>
            </a:r>
            <a:endParaRPr lang="en-US" sz="1200" dirty="0"/>
          </a:p>
        </p:txBody>
      </p:sp>
      <p:sp>
        <p:nvSpPr>
          <p:cNvPr id="8" name="q-2"/>
          <p:cNvSpPr/>
          <p:nvPr/>
        </p:nvSpPr>
        <p:spPr>
          <a:xfrm>
            <a:off x="3246120" y="1097280"/>
            <a:ext cx="2560320" cy="1828800"/>
          </a:xfrm>
          <a:prstGeom prst="roundRect">
            <a:avLst>
              <a:gd name="adj" fmla="val 4000"/>
            </a:avLst>
          </a:prstGeom>
          <a:solidFill>
            <a:srgbClr val="DAEBFE"/>
          </a:solidFill>
          <a:ln w="12700">
            <a:solidFill>
              <a:srgbClr val="DAEBFE"/>
            </a:solidFill>
            <a:prstDash val="solid"/>
          </a:ln>
        </p:spPr>
      </p:sp>
      <p:sp>
        <p:nvSpPr>
          <p:cNvPr id="9" name="Text 7"/>
          <p:cNvSpPr txBox="1"/>
          <p:nvPr/>
        </p:nvSpPr>
        <p:spPr>
          <a:xfrm>
            <a:off x="3429000" y="1188720"/>
            <a:ext cx="548640" cy="548640"/>
          </a:xfrm>
          <a:prstGeom prst="rect">
            <a:avLst/>
          </a:prstGeom>
          <a:noFill/>
          <a:ln/>
        </p:spPr>
        <p:txBody>
          <a:bodyPr wrap="square" lIns="0" tIns="0" rIns="0" bIns="0" rtlCol="0" anchor="t"/>
          <a:lstStyle/>
          <a:p>
            <a:pPr indent="0" marL="0">
              <a:buNone/>
            </a:pPr>
            <a:r>
              <a:rPr lang="en-US" sz="3200" b="1" dirty="0">
                <a:solidFill>
                  <a:srgbClr val="2774AE"/>
                </a:solidFill>
                <a:latin typeface="Arial" pitchFamily="34" charset="0"/>
                <a:ea typeface="Arial" pitchFamily="34" charset="-122"/>
                <a:cs typeface="Arial" pitchFamily="34" charset="-120"/>
              </a:rPr>
              <a:t>2</a:t>
            </a:r>
            <a:endParaRPr lang="en-US" sz="3200" dirty="0"/>
          </a:p>
        </p:txBody>
      </p:sp>
      <p:sp>
        <p:nvSpPr>
          <p:cNvPr id="10" name="Text 8"/>
          <p:cNvSpPr txBox="1"/>
          <p:nvPr/>
        </p:nvSpPr>
        <p:spPr>
          <a:xfrm>
            <a:off x="3429000" y="1783080"/>
            <a:ext cx="2194560" cy="457200"/>
          </a:xfrm>
          <a:prstGeom prst="rect">
            <a:avLst/>
          </a:prstGeom>
          <a:noFill/>
          <a:ln/>
        </p:spPr>
        <p:txBody>
          <a:bodyPr wrap="square" lIns="0" tIns="0" rIns="0" bIns="0" rtlCol="0" anchor="t"/>
          <a:lstStyle/>
          <a:p>
            <a:pPr indent="0" marL="0">
              <a:buNone/>
            </a:pPr>
            <a:r>
              <a:rPr lang="en-US" sz="1500" b="1" dirty="0">
                <a:solidFill>
                  <a:srgbClr val="005587"/>
                </a:solidFill>
                <a:latin typeface="Arial" pitchFamily="34" charset="0"/>
                <a:ea typeface="Arial" pitchFamily="34" charset="-122"/>
                <a:cs typeface="Arial" pitchFamily="34" charset="-120"/>
              </a:rPr>
              <a:t>Are its prices right?</a:t>
            </a:r>
            <a:endParaRPr lang="en-US" sz="1500" dirty="0"/>
          </a:p>
        </p:txBody>
      </p:sp>
      <p:sp>
        <p:nvSpPr>
          <p:cNvPr id="11" name="Text 9"/>
          <p:cNvSpPr txBox="1"/>
          <p:nvPr/>
        </p:nvSpPr>
        <p:spPr>
          <a:xfrm>
            <a:off x="3429000" y="2240280"/>
            <a:ext cx="2194560" cy="64008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Calibration across 1–99¢, then a zoom on 90–99¢ favorites</a:t>
            </a:r>
            <a:endParaRPr lang="en-US" sz="1200" dirty="0"/>
          </a:p>
        </p:txBody>
      </p:sp>
      <p:sp>
        <p:nvSpPr>
          <p:cNvPr id="12" name="q-3"/>
          <p:cNvSpPr/>
          <p:nvPr/>
        </p:nvSpPr>
        <p:spPr>
          <a:xfrm>
            <a:off x="6035040" y="1097280"/>
            <a:ext cx="2560320" cy="1828800"/>
          </a:xfrm>
          <a:prstGeom prst="roundRect">
            <a:avLst>
              <a:gd name="adj" fmla="val 4000"/>
            </a:avLst>
          </a:prstGeom>
          <a:solidFill>
            <a:srgbClr val="DAEBFE"/>
          </a:solidFill>
          <a:ln w="12700">
            <a:solidFill>
              <a:srgbClr val="DAEBFE"/>
            </a:solidFill>
            <a:prstDash val="solid"/>
          </a:ln>
        </p:spPr>
      </p:sp>
      <p:sp>
        <p:nvSpPr>
          <p:cNvPr id="13" name="Text 11"/>
          <p:cNvSpPr txBox="1"/>
          <p:nvPr/>
        </p:nvSpPr>
        <p:spPr>
          <a:xfrm>
            <a:off x="6217920" y="1188720"/>
            <a:ext cx="548640" cy="548640"/>
          </a:xfrm>
          <a:prstGeom prst="rect">
            <a:avLst/>
          </a:prstGeom>
          <a:noFill/>
          <a:ln/>
        </p:spPr>
        <p:txBody>
          <a:bodyPr wrap="square" lIns="0" tIns="0" rIns="0" bIns="0" rtlCol="0" anchor="t"/>
          <a:lstStyle/>
          <a:p>
            <a:pPr indent="0" marL="0">
              <a:buNone/>
            </a:pPr>
            <a:r>
              <a:rPr lang="en-US" sz="3200" b="1" dirty="0">
                <a:solidFill>
                  <a:srgbClr val="2774AE"/>
                </a:solidFill>
                <a:latin typeface="Arial" pitchFamily="34" charset="0"/>
                <a:ea typeface="Arial" pitchFamily="34" charset="-122"/>
                <a:cs typeface="Arial" pitchFamily="34" charset="-120"/>
              </a:rPr>
              <a:t>3</a:t>
            </a:r>
            <a:endParaRPr lang="en-US" sz="3200" dirty="0"/>
          </a:p>
        </p:txBody>
      </p:sp>
      <p:sp>
        <p:nvSpPr>
          <p:cNvPr id="14" name="Text 12"/>
          <p:cNvSpPr txBox="1"/>
          <p:nvPr/>
        </p:nvSpPr>
        <p:spPr>
          <a:xfrm>
            <a:off x="6217920" y="1783080"/>
            <a:ext cx="2194560" cy="457200"/>
          </a:xfrm>
          <a:prstGeom prst="rect">
            <a:avLst/>
          </a:prstGeom>
          <a:noFill/>
          <a:ln/>
        </p:spPr>
        <p:txBody>
          <a:bodyPr wrap="square" lIns="0" tIns="0" rIns="0" bIns="0" rtlCol="0" anchor="t"/>
          <a:lstStyle/>
          <a:p>
            <a:pPr indent="0" marL="0">
              <a:buNone/>
            </a:pPr>
            <a:r>
              <a:rPr lang="en-US" sz="1500" b="1" dirty="0">
                <a:solidFill>
                  <a:srgbClr val="005587"/>
                </a:solidFill>
                <a:latin typeface="Arial" pitchFamily="34" charset="0"/>
                <a:ea typeface="Arial" pitchFamily="34" charset="-122"/>
                <a:cs typeface="Arial" pitchFamily="34" charset="-120"/>
              </a:rPr>
              <a:t>Can a model beat the price?</a:t>
            </a:r>
            <a:endParaRPr lang="en-US" sz="1500" dirty="0"/>
          </a:p>
        </p:txBody>
      </p:sp>
      <p:sp>
        <p:nvSpPr>
          <p:cNvPr id="15" name="Text 13"/>
          <p:cNvSpPr txBox="1"/>
          <p:nvPr/>
        </p:nvSpPr>
        <p:spPr>
          <a:xfrm>
            <a:off x="6217920" y="2240280"/>
            <a:ext cx="2194560" cy="64008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Logistic, random forest and XGBoost vs the quoted price</a:t>
            </a:r>
            <a:endParaRPr lang="en-US" sz="1200" dirty="0"/>
          </a:p>
        </p:txBody>
      </p:sp>
      <p:sp>
        <p:nvSpPr>
          <p:cNvPr id="16" name="Text 14"/>
          <p:cNvSpPr txBox="1"/>
          <p:nvPr/>
        </p:nvSpPr>
        <p:spPr>
          <a:xfrm>
            <a:off x="457200" y="3200400"/>
            <a:ext cx="8229600" cy="1097280"/>
          </a:xfrm>
          <a:prstGeom prst="rect">
            <a:avLst/>
          </a:prstGeom>
          <a:noFill/>
          <a:ln/>
        </p:spPr>
        <p:txBody>
          <a:bodyPr wrap="square" lIns="0" tIns="0" rIns="0" bIns="0" rtlCol="0" anchor="t"/>
          <a:lstStyle/>
          <a:p>
            <a:pPr indent="0" marL="0">
              <a:buNone/>
            </a:pPr>
            <a:r>
              <a:rPr lang="en-US" sz="1400" b="1" dirty="0">
                <a:solidFill>
                  <a:srgbClr val="2774AE"/>
                </a:solidFill>
                <a:latin typeface="Arial" pitchFamily="34" charset="0"/>
                <a:ea typeface="Arial" pitchFamily="34" charset="-122"/>
                <a:cs typeface="Arial" pitchFamily="34" charset="-120"/>
              </a:rPr>
              <a:t>Why favorites?  </a:t>
            </a:r>
            <a:pPr indent="0" marL="0">
              <a:buNone/>
            </a:pPr>
            <a:r>
              <a:rPr lang="en-US" sz="1400" dirty="0">
                <a:solidFill>
                  <a:srgbClr val="333333"/>
                </a:solidFill>
                <a:latin typeface="Arial" pitchFamily="34" charset="0"/>
                <a:ea typeface="Arial" pitchFamily="34" charset="-122"/>
                <a:cs typeface="Arial" pitchFamily="34" charset="-120"/>
              </a:rPr>
              <a:t>A YES contract pays $1 or $0, so its price is the crowd's probability. Buying at 99¢ risks 99¢ to make 1¢: one loss wipes out 99 wins. Whether that is a good bet depends entirely on how accurate the price is.</a:t>
            </a:r>
            <a:endParaRPr lang="en-US" sz="14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28600"/>
          </a:xfrm>
          <a:prstGeom prst="rect">
            <a:avLst/>
          </a:prstGeom>
          <a:noFill/>
          <a:ln/>
        </p:spPr>
        <p:txBody>
          <a:bodyPr wrap="square" lIns="0" tIns="0" rIns="0" bIns="0" rtlCol="0"/>
          <a:lstStyle/>
          <a:p>
            <a:pPr indent="0" marL="0">
              <a:buNone/>
            </a:pPr>
            <a:r>
              <a:rPr lang="en-US" sz="1100" b="1" spc="100" kern="0" dirty="0">
                <a:solidFill>
                  <a:srgbClr val="2774AE"/>
                </a:solidFill>
                <a:latin typeface="Arial" pitchFamily="34" charset="0"/>
                <a:ea typeface="Arial" pitchFamily="34" charset="-122"/>
                <a:cs typeface="Arial" pitchFamily="34" charset="-120"/>
              </a:rPr>
              <a:t>DATA</a:t>
            </a:r>
            <a:endParaRPr lang="en-US" sz="1100" dirty="0"/>
          </a:p>
        </p:txBody>
      </p:sp>
      <p:sp>
        <p:nvSpPr>
          <p:cNvPr id="3" name="Text 0"/>
          <p:cNvSpPr/>
          <p:nvPr>
            <p:ph idx="101" type="title" hasCustomPrompt="1"/>
          </p:nvPr>
        </p:nvSpPr>
        <p:spPr>
          <a:xfrm>
            <a:off x="457200" y="429768"/>
            <a:ext cx="8229600" cy="502920"/>
          </a:xfrm>
          <a:prstGeom prst="rect">
            <a:avLst/>
          </a:prstGeom>
          <a:noFill/>
          <a:ln/>
        </p:spPr>
        <p:txBody>
          <a:bodyPr wrap="square" lIns="0" tIns="0" rIns="0" bIns="0" rtlCol="0" anchor="ctr"/>
          <a:lstStyle/>
          <a:p>
            <a:pPr algn="l" indent="0" marL="0">
              <a:buNone/>
            </a:pPr>
            <a:r>
              <a:rPr lang="en-US" sz="2600" b="1" dirty="0">
                <a:solidFill>
                  <a:srgbClr val="005587"/>
                </a:solidFill>
                <a:latin typeface="Arial" pitchFamily="34" charset="0"/>
                <a:ea typeface="Arial" pitchFamily="34" charset="-122"/>
                <a:cs typeface="Arial" pitchFamily="34" charset="-120"/>
              </a:rPr>
              <a:t>Every hourly Kalshi price for three weeks, with gaps</a:t>
            </a:r>
            <a:endParaRPr lang="en-US" sz="2600" dirty="0"/>
          </a:p>
        </p:txBody>
      </p:sp>
      <p:sp>
        <p:nvSpPr>
          <p:cNvPr id="4" name="Text 2"/>
          <p:cNvSpPr txBox="1"/>
          <p:nvPr/>
        </p:nvSpPr>
        <p:spPr>
          <a:xfrm>
            <a:off x="457200" y="1097280"/>
            <a:ext cx="1828800" cy="548640"/>
          </a:xfrm>
          <a:prstGeom prst="rect">
            <a:avLst/>
          </a:prstGeom>
          <a:noFill/>
          <a:ln/>
        </p:spPr>
        <p:txBody>
          <a:bodyPr wrap="square" lIns="0" tIns="0" rIns="0" bIns="0" rtlCol="0" anchor="t"/>
          <a:lstStyle/>
          <a:p>
            <a:pPr indent="0" marL="0">
              <a:buNone/>
            </a:pPr>
            <a:r>
              <a:rPr lang="en-US" sz="3400" b="1" dirty="0">
                <a:solidFill>
                  <a:srgbClr val="2774AE"/>
                </a:solidFill>
                <a:latin typeface="Arial" pitchFamily="34" charset="0"/>
                <a:ea typeface="Arial" pitchFamily="34" charset="-122"/>
                <a:cs typeface="Arial" pitchFamily="34" charset="-120"/>
              </a:rPr>
              <a:t>7.17M</a:t>
            </a:r>
            <a:endParaRPr lang="en-US" sz="3400" dirty="0"/>
          </a:p>
        </p:txBody>
      </p:sp>
      <p:sp>
        <p:nvSpPr>
          <p:cNvPr id="5" name="Text 3"/>
          <p:cNvSpPr txBox="1"/>
          <p:nvPr/>
        </p:nvSpPr>
        <p:spPr>
          <a:xfrm>
            <a:off x="457200" y="1664208"/>
            <a:ext cx="1828800" cy="411480"/>
          </a:xfrm>
          <a:prstGeom prst="rect">
            <a:avLst/>
          </a:prstGeom>
          <a:noFill/>
          <a:ln/>
        </p:spPr>
        <p:txBody>
          <a:bodyPr wrap="square" lIns="0" tIns="0" rIns="0" bIns="0" rtlCol="0" anchor="t"/>
          <a:lstStyle/>
          <a:p>
            <a:pPr indent="0" marL="0">
              <a:buNone/>
            </a:pPr>
            <a:r>
              <a:rPr lang="en-US" sz="1200" dirty="0">
                <a:solidFill>
                  <a:srgbClr val="666666"/>
                </a:solidFill>
                <a:latin typeface="Arial" pitchFamily="34" charset="0"/>
                <a:ea typeface="Arial" pitchFamily="34" charset="-122"/>
                <a:cs typeface="Arial" pitchFamily="34" charset="-120"/>
              </a:rPr>
              <a:t>hourly candles (bid, ask, volume), Oct 8–27</a:t>
            </a:r>
            <a:endParaRPr lang="en-US" sz="1200" dirty="0"/>
          </a:p>
        </p:txBody>
      </p:sp>
      <p:sp>
        <p:nvSpPr>
          <p:cNvPr id="6" name="Text 4"/>
          <p:cNvSpPr txBox="1"/>
          <p:nvPr/>
        </p:nvSpPr>
        <p:spPr>
          <a:xfrm>
            <a:off x="457200" y="2148840"/>
            <a:ext cx="1828800" cy="548640"/>
          </a:xfrm>
          <a:prstGeom prst="rect">
            <a:avLst/>
          </a:prstGeom>
          <a:noFill/>
          <a:ln/>
        </p:spPr>
        <p:txBody>
          <a:bodyPr wrap="square" lIns="0" tIns="0" rIns="0" bIns="0" rtlCol="0" anchor="t"/>
          <a:lstStyle/>
          <a:p>
            <a:pPr indent="0" marL="0">
              <a:buNone/>
            </a:pPr>
            <a:r>
              <a:rPr lang="en-US" sz="3400" b="1" dirty="0">
                <a:solidFill>
                  <a:srgbClr val="2774AE"/>
                </a:solidFill>
                <a:latin typeface="Arial" pitchFamily="34" charset="0"/>
                <a:ea typeface="Arial" pitchFamily="34" charset="-122"/>
                <a:cs typeface="Arial" pitchFamily="34" charset="-120"/>
              </a:rPr>
              <a:t>839,613</a:t>
            </a:r>
            <a:endParaRPr lang="en-US" sz="3400" dirty="0"/>
          </a:p>
        </p:txBody>
      </p:sp>
      <p:sp>
        <p:nvSpPr>
          <p:cNvPr id="7" name="Text 5"/>
          <p:cNvSpPr txBox="1"/>
          <p:nvPr/>
        </p:nvSpPr>
        <p:spPr>
          <a:xfrm>
            <a:off x="457200" y="2715768"/>
            <a:ext cx="1828800" cy="411480"/>
          </a:xfrm>
          <a:prstGeom prst="rect">
            <a:avLst/>
          </a:prstGeom>
          <a:noFill/>
          <a:ln/>
        </p:spPr>
        <p:txBody>
          <a:bodyPr wrap="square" lIns="0" tIns="0" rIns="0" bIns="0" rtlCol="0" anchor="t"/>
          <a:lstStyle/>
          <a:p>
            <a:pPr indent="0" marL="0">
              <a:buNone/>
            </a:pPr>
            <a:r>
              <a:rPr lang="en-US" sz="1200" dirty="0">
                <a:solidFill>
                  <a:srgbClr val="666666"/>
                </a:solidFill>
                <a:latin typeface="Arial" pitchFamily="34" charset="0"/>
                <a:ea typeface="Arial" pitchFamily="34" charset="-122"/>
                <a:cs typeface="Arial" pitchFamily="34" charset="-120"/>
              </a:rPr>
              <a:t>markets in 67,261 events</a:t>
            </a:r>
            <a:endParaRPr lang="en-US" sz="1200" dirty="0"/>
          </a:p>
        </p:txBody>
      </p:sp>
      <p:pic>
        <p:nvPicPr>
          <p:cNvPr id="8" name="coverage_by_day.png" descr="coverage by day">    </p:cNvPr>
          <p:cNvPicPr>
            <a:picLocks noChangeAspect="1"/>
          </p:cNvPicPr>
          <p:nvPr/>
        </p:nvPicPr>
        <p:blipFill>
          <a:blip r:embed="rId1"/>
          <a:stretch>
            <a:fillRect/>
          </a:stretch>
        </p:blipFill>
        <p:spPr>
          <a:xfrm>
            <a:off x="2926080" y="1051560"/>
            <a:ext cx="5058076" cy="3383280"/>
          </a:xfrm>
          <a:prstGeom prst="rect">
            <a:avLst/>
          </a:prstGeom>
        </p:spPr>
      </p:pic>
      <p:sp>
        <p:nvSpPr>
          <p:cNvPr id="9" name="Text 6"/>
          <p:cNvSpPr txBox="1"/>
          <p:nvPr/>
        </p:nvSpPr>
        <p:spPr>
          <a:xfrm>
            <a:off x="457200" y="4526280"/>
            <a:ext cx="8229600" cy="201168"/>
          </a:xfrm>
          <a:prstGeom prst="rect">
            <a:avLst/>
          </a:prstGeom>
          <a:noFill/>
          <a:ln/>
        </p:spPr>
        <p:txBody>
          <a:bodyPr wrap="square" lIns="0" tIns="0" rIns="0" bIns="0" rtlCol="0" anchor="t"/>
          <a:lstStyle/>
          <a:p>
            <a:pPr indent="0" marL="0">
              <a:buNone/>
            </a:pPr>
            <a:r>
              <a:rPr lang="en-US" sz="900" dirty="0">
                <a:solidFill>
                  <a:srgbClr val="666666"/>
                </a:solidFill>
                <a:latin typeface="Arial" pitchFamily="34" charset="0"/>
                <a:ea typeface="Arial" pitchFamily="34" charset="-122"/>
                <a:cs typeface="Arial" pitchFamily="34" charset="-120"/>
              </a:rPr>
              <a:t>Data: Kalshi course database, hourly candles Oct 8–27, 2026  ·  hours with at least one candle per UTC day</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28600"/>
          </a:xfrm>
          <a:prstGeom prst="rect">
            <a:avLst/>
          </a:prstGeom>
          <a:noFill/>
          <a:ln/>
        </p:spPr>
        <p:txBody>
          <a:bodyPr wrap="square" lIns="0" tIns="0" rIns="0" bIns="0" rtlCol="0"/>
          <a:lstStyle/>
          <a:p>
            <a:pPr indent="0" marL="0">
              <a:buNone/>
            </a:pPr>
            <a:r>
              <a:rPr lang="en-US" sz="1100" b="1" spc="100" kern="0" dirty="0">
                <a:solidFill>
                  <a:srgbClr val="2774AE"/>
                </a:solidFill>
                <a:latin typeface="Arial" pitchFamily="34" charset="0"/>
                <a:ea typeface="Arial" pitchFamily="34" charset="-122"/>
                <a:cs typeface="Arial" pitchFamily="34" charset="-120"/>
              </a:rPr>
              <a:t>EXPLORATION 1</a:t>
            </a:r>
            <a:endParaRPr lang="en-US" sz="1100" dirty="0"/>
          </a:p>
        </p:txBody>
      </p:sp>
      <p:sp>
        <p:nvSpPr>
          <p:cNvPr id="3" name="Text 0"/>
          <p:cNvSpPr/>
          <p:nvPr>
            <p:ph idx="101" type="title" hasCustomPrompt="1"/>
          </p:nvPr>
        </p:nvSpPr>
        <p:spPr>
          <a:xfrm>
            <a:off x="457200" y="429768"/>
            <a:ext cx="8229600" cy="502920"/>
          </a:xfrm>
          <a:prstGeom prst="rect">
            <a:avLst/>
          </a:prstGeom>
          <a:noFill/>
          <a:ln/>
        </p:spPr>
        <p:txBody>
          <a:bodyPr wrap="square" lIns="0" tIns="0" rIns="0" bIns="0" rtlCol="0" anchor="ctr"/>
          <a:lstStyle/>
          <a:p>
            <a:pPr algn="l" indent="0" marL="0">
              <a:buNone/>
            </a:pPr>
            <a:r>
              <a:rPr lang="en-US" sz="2600" b="1" dirty="0">
                <a:solidFill>
                  <a:srgbClr val="005587"/>
                </a:solidFill>
                <a:latin typeface="Arial" pitchFamily="34" charset="0"/>
                <a:ea typeface="Arial" pitchFamily="34" charset="-122"/>
                <a:cs typeface="Arial" pitchFamily="34" charset="-120"/>
              </a:rPr>
              <a:t>Sports and crypto are most of Kalshi</a:t>
            </a:r>
            <a:endParaRPr lang="en-US" sz="2600" dirty="0"/>
          </a:p>
        </p:txBody>
      </p:sp>
      <p:pic>
        <p:nvPicPr>
          <p:cNvPr id="4" name="eda_landscape.png" descr="eda landscape">    </p:cNvPr>
          <p:cNvPicPr>
            <a:picLocks noChangeAspect="1"/>
          </p:cNvPicPr>
          <p:nvPr/>
        </p:nvPicPr>
        <p:blipFill>
          <a:blip r:embed="rId1"/>
          <a:stretch>
            <a:fillRect/>
          </a:stretch>
        </p:blipFill>
        <p:spPr>
          <a:xfrm>
            <a:off x="457200" y="1005840"/>
            <a:ext cx="5394960" cy="3196721"/>
          </a:xfrm>
          <a:prstGeom prst="rect">
            <a:avLst/>
          </a:prstGeom>
        </p:spPr>
      </p:pic>
      <p:sp>
        <p:nvSpPr>
          <p:cNvPr id="5" name="Text 2"/>
          <p:cNvSpPr txBox="1"/>
          <p:nvPr/>
        </p:nvSpPr>
        <p:spPr>
          <a:xfrm>
            <a:off x="6080760" y="1097280"/>
            <a:ext cx="2606040" cy="548640"/>
          </a:xfrm>
          <a:prstGeom prst="rect">
            <a:avLst/>
          </a:prstGeom>
          <a:noFill/>
          <a:ln/>
        </p:spPr>
        <p:txBody>
          <a:bodyPr wrap="square" lIns="0" tIns="0" rIns="0" bIns="0" rtlCol="0" anchor="t"/>
          <a:lstStyle/>
          <a:p>
            <a:pPr indent="0" marL="0">
              <a:buNone/>
            </a:pPr>
            <a:r>
              <a:rPr lang="en-US" sz="3400" b="1" dirty="0">
                <a:solidFill>
                  <a:srgbClr val="2774AE"/>
                </a:solidFill>
                <a:latin typeface="Arial" pitchFamily="34" charset="0"/>
                <a:ea typeface="Arial" pitchFamily="34" charset="-122"/>
                <a:cs typeface="Arial" pitchFamily="34" charset="-120"/>
              </a:rPr>
              <a:t>76%</a:t>
            </a:r>
            <a:endParaRPr lang="en-US" sz="3400" dirty="0"/>
          </a:p>
        </p:txBody>
      </p:sp>
      <p:sp>
        <p:nvSpPr>
          <p:cNvPr id="6" name="Text 3"/>
          <p:cNvSpPr txBox="1"/>
          <p:nvPr/>
        </p:nvSpPr>
        <p:spPr>
          <a:xfrm>
            <a:off x="6080760" y="1664208"/>
            <a:ext cx="2606040" cy="411480"/>
          </a:xfrm>
          <a:prstGeom prst="rect">
            <a:avLst/>
          </a:prstGeom>
          <a:noFill/>
          <a:ln/>
        </p:spPr>
        <p:txBody>
          <a:bodyPr wrap="square" lIns="0" tIns="0" rIns="0" bIns="0" rtlCol="0" anchor="t"/>
          <a:lstStyle/>
          <a:p>
            <a:pPr indent="0" marL="0">
              <a:buNone/>
            </a:pPr>
            <a:r>
              <a:rPr lang="en-US" sz="1200" dirty="0">
                <a:solidFill>
                  <a:srgbClr val="666666"/>
                </a:solidFill>
                <a:latin typeface="Arial" pitchFamily="34" charset="0"/>
                <a:ea typeface="Arial" pitchFamily="34" charset="-122"/>
                <a:cs typeface="Arial" pitchFamily="34" charset="-120"/>
              </a:rPr>
              <a:t>of contracts traded were Sports, from 37% of markets</a:t>
            </a:r>
            <a:endParaRPr lang="en-US" sz="1200" dirty="0"/>
          </a:p>
        </p:txBody>
      </p:sp>
      <p:sp>
        <p:nvSpPr>
          <p:cNvPr id="7" name="Text 4"/>
          <p:cNvSpPr txBox="1"/>
          <p:nvPr/>
        </p:nvSpPr>
        <p:spPr>
          <a:xfrm>
            <a:off x="6080760" y="2194560"/>
            <a:ext cx="2606040" cy="21945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The top 1% of markets carry 82% of all volume</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72% of markets never traded in the window</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Politics, Economics, Tech and Entertainment: each under 0.4% of volume</a:t>
            </a:r>
            <a:endParaRPr lang="en-US" sz="1200" dirty="0"/>
          </a:p>
        </p:txBody>
      </p:sp>
      <p:sp>
        <p:nvSpPr>
          <p:cNvPr id="8" name="Text 5"/>
          <p:cNvSpPr txBox="1"/>
          <p:nvPr/>
        </p:nvSpPr>
        <p:spPr>
          <a:xfrm>
            <a:off x="457200" y="4526280"/>
            <a:ext cx="8229600" cy="201168"/>
          </a:xfrm>
          <a:prstGeom prst="rect">
            <a:avLst/>
          </a:prstGeom>
          <a:noFill/>
          <a:ln/>
        </p:spPr>
        <p:txBody>
          <a:bodyPr wrap="square" lIns="0" tIns="0" rIns="0" bIns="0" rtlCol="0" anchor="t"/>
          <a:lstStyle/>
          <a:p>
            <a:pPr indent="0" marL="0">
              <a:buNone/>
            </a:pPr>
            <a:r>
              <a:rPr lang="en-US" sz="900" dirty="0">
                <a:solidFill>
                  <a:srgbClr val="666666"/>
                </a:solidFill>
                <a:latin typeface="Arial" pitchFamily="34" charset="0"/>
                <a:ea typeface="Arial" pitchFamily="34" charset="-122"/>
                <a:cs typeface="Arial" pitchFamily="34" charset="-120"/>
              </a:rPr>
              <a:t>Data: Kalshi course database, hourly candles Oct 8–27, 2026  ·  volume = contracts traded, summed over hourly candles</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28600"/>
          </a:xfrm>
          <a:prstGeom prst="rect">
            <a:avLst/>
          </a:prstGeom>
          <a:noFill/>
          <a:ln/>
        </p:spPr>
        <p:txBody>
          <a:bodyPr wrap="square" lIns="0" tIns="0" rIns="0" bIns="0" rtlCol="0"/>
          <a:lstStyle/>
          <a:p>
            <a:pPr indent="0" marL="0">
              <a:buNone/>
            </a:pPr>
            <a:r>
              <a:rPr lang="en-US" sz="1100" b="1" spc="100" kern="0" dirty="0">
                <a:solidFill>
                  <a:srgbClr val="2774AE"/>
                </a:solidFill>
                <a:latin typeface="Arial" pitchFamily="34" charset="0"/>
                <a:ea typeface="Arial" pitchFamily="34" charset="-122"/>
                <a:cs typeface="Arial" pitchFamily="34" charset="-120"/>
              </a:rPr>
              <a:t>EXPLORATION 2</a:t>
            </a:r>
            <a:endParaRPr lang="en-US" sz="1100" dirty="0"/>
          </a:p>
        </p:txBody>
      </p:sp>
      <p:sp>
        <p:nvSpPr>
          <p:cNvPr id="3" name="Text 0"/>
          <p:cNvSpPr/>
          <p:nvPr>
            <p:ph idx="101" type="title" hasCustomPrompt="1"/>
          </p:nvPr>
        </p:nvSpPr>
        <p:spPr>
          <a:xfrm>
            <a:off x="457200" y="429768"/>
            <a:ext cx="8229600" cy="502920"/>
          </a:xfrm>
          <a:prstGeom prst="rect">
            <a:avLst/>
          </a:prstGeom>
          <a:noFill/>
          <a:ln/>
        </p:spPr>
        <p:txBody>
          <a:bodyPr wrap="square" lIns="0" tIns="0" rIns="0" bIns="0" rtlCol="0" anchor="ctr"/>
          <a:lstStyle/>
          <a:p>
            <a:pPr algn="l" indent="0" marL="0">
              <a:buNone/>
            </a:pPr>
            <a:r>
              <a:rPr lang="en-US" sz="2600" b="1" dirty="0">
                <a:solidFill>
                  <a:srgbClr val="005587"/>
                </a:solidFill>
                <a:latin typeface="Arial" pitchFamily="34" charset="0"/>
                <a:ea typeface="Arial" pitchFamily="34" charset="-122"/>
                <a:cs typeface="Arial" pitchFamily="34" charset="-120"/>
              </a:rPr>
              <a:t>Most quotes are long shots; spreads peak at 50¢</a:t>
            </a:r>
            <a:endParaRPr lang="en-US" sz="2600" dirty="0"/>
          </a:p>
        </p:txBody>
      </p:sp>
      <p:pic>
        <p:nvPicPr>
          <p:cNvPr id="4" name="eda_prices_spreads.png" descr="eda prices spreads">    </p:cNvPr>
          <p:cNvPicPr>
            <a:picLocks noChangeAspect="1"/>
          </p:cNvPicPr>
          <p:nvPr/>
        </p:nvPicPr>
        <p:blipFill>
          <a:blip r:embed="rId1"/>
          <a:stretch>
            <a:fillRect/>
          </a:stretch>
        </p:blipFill>
        <p:spPr>
          <a:xfrm>
            <a:off x="457200" y="1005840"/>
            <a:ext cx="7027293" cy="2788920"/>
          </a:xfrm>
          <a:prstGeom prst="rect">
            <a:avLst/>
          </a:prstGeom>
        </p:spPr>
      </p:pic>
      <p:sp>
        <p:nvSpPr>
          <p:cNvPr id="5" name="Text 2"/>
          <p:cNvSpPr txBox="1"/>
          <p:nvPr/>
        </p:nvSpPr>
        <p:spPr>
          <a:xfrm>
            <a:off x="457200" y="3840480"/>
            <a:ext cx="8229600" cy="6400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Left: 21% of hourly quotes are below 10¢ and 5.5% above 90¢, because events list one market per outcome</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Right: the median spread is 4¢ overall, 1–2¢ at the extremes and widest near 50¢, where outcomes are least certain</a:t>
            </a:r>
            <a:endParaRPr lang="en-US" sz="1200" dirty="0"/>
          </a:p>
        </p:txBody>
      </p:sp>
      <p:sp>
        <p:nvSpPr>
          <p:cNvPr id="6" name="Text 3"/>
          <p:cNvSpPr txBox="1"/>
          <p:nvPr/>
        </p:nvSpPr>
        <p:spPr>
          <a:xfrm>
            <a:off x="457200" y="4526280"/>
            <a:ext cx="8229600" cy="201168"/>
          </a:xfrm>
          <a:prstGeom prst="rect">
            <a:avLst/>
          </a:prstGeom>
          <a:noFill/>
          <a:ln/>
        </p:spPr>
        <p:txBody>
          <a:bodyPr wrap="square" lIns="0" tIns="0" rIns="0" bIns="0" rtlCol="0" anchor="t"/>
          <a:lstStyle/>
          <a:p>
            <a:pPr indent="0" marL="0">
              <a:buNone/>
            </a:pPr>
            <a:r>
              <a:rPr lang="en-US" sz="900" dirty="0">
                <a:solidFill>
                  <a:srgbClr val="666666"/>
                </a:solidFill>
                <a:latin typeface="Arial" pitchFamily="34" charset="0"/>
                <a:ea typeface="Arial" pitchFamily="34" charset="-122"/>
                <a:cs typeface="Arial" pitchFamily="34" charset="-120"/>
              </a:rPr>
              <a:t>Data: Kalshi course database, hourly candles Oct 8–27, 2026  ·  5.5M valid two-sided quotes (0 &lt; bid ≤ ask &lt; 1)</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28600"/>
          </a:xfrm>
          <a:prstGeom prst="rect">
            <a:avLst/>
          </a:prstGeom>
          <a:noFill/>
          <a:ln/>
        </p:spPr>
        <p:txBody>
          <a:bodyPr wrap="square" lIns="0" tIns="0" rIns="0" bIns="0" rtlCol="0"/>
          <a:lstStyle/>
          <a:p>
            <a:pPr indent="0" marL="0">
              <a:buNone/>
            </a:pPr>
            <a:r>
              <a:rPr lang="en-US" sz="1100" b="1" spc="100" kern="0" dirty="0">
                <a:solidFill>
                  <a:srgbClr val="2774AE"/>
                </a:solidFill>
                <a:latin typeface="Arial" pitchFamily="34" charset="0"/>
                <a:ea typeface="Arial" pitchFamily="34" charset="-122"/>
                <a:cs typeface="Arial" pitchFamily="34" charset="-120"/>
              </a:rPr>
              <a:t>EXPLORATION 3</a:t>
            </a:r>
            <a:endParaRPr lang="en-US" sz="1100" dirty="0"/>
          </a:p>
        </p:txBody>
      </p:sp>
      <p:sp>
        <p:nvSpPr>
          <p:cNvPr id="3" name="Text 0"/>
          <p:cNvSpPr/>
          <p:nvPr>
            <p:ph idx="101" type="title" hasCustomPrompt="1"/>
          </p:nvPr>
        </p:nvSpPr>
        <p:spPr>
          <a:xfrm>
            <a:off x="457200" y="429768"/>
            <a:ext cx="8229600" cy="502920"/>
          </a:xfrm>
          <a:prstGeom prst="rect">
            <a:avLst/>
          </a:prstGeom>
          <a:noFill/>
          <a:ln/>
        </p:spPr>
        <p:txBody>
          <a:bodyPr wrap="square" lIns="0" tIns="0" rIns="0" bIns="0" rtlCol="0" anchor="ctr"/>
          <a:lstStyle/>
          <a:p>
            <a:pPr algn="l" indent="0" marL="0">
              <a:buNone/>
            </a:pPr>
            <a:r>
              <a:rPr lang="en-US" sz="2600" b="1" dirty="0">
                <a:solidFill>
                  <a:srgbClr val="005587"/>
                </a:solidFill>
                <a:latin typeface="Arial" pitchFamily="34" charset="0"/>
                <a:ea typeface="Arial" pitchFamily="34" charset="-122"/>
                <a:cs typeface="Arial" pitchFamily="34" charset="-120"/>
              </a:rPr>
              <a:t>Prices are calibrated except at the extremes</a:t>
            </a:r>
            <a:endParaRPr lang="en-US" sz="2600" dirty="0"/>
          </a:p>
        </p:txBody>
      </p:sp>
      <p:pic>
        <p:nvPicPr>
          <p:cNvPr id="4" name="eda_calibration_full_range.png" descr="eda calibration full range">    </p:cNvPr>
          <p:cNvPicPr>
            <a:picLocks noChangeAspect="1"/>
          </p:cNvPicPr>
          <p:nvPr/>
        </p:nvPicPr>
        <p:blipFill>
          <a:blip r:embed="rId1"/>
          <a:stretch>
            <a:fillRect/>
          </a:stretch>
        </p:blipFill>
        <p:spPr>
          <a:xfrm>
            <a:off x="457200" y="1005840"/>
            <a:ext cx="4602773" cy="3429000"/>
          </a:xfrm>
          <a:prstGeom prst="rect">
            <a:avLst/>
          </a:prstGeom>
        </p:spPr>
      </p:pic>
      <p:sp>
        <p:nvSpPr>
          <p:cNvPr id="5" name="Text 2"/>
          <p:cNvSpPr txBox="1"/>
          <p:nvPr/>
        </p:nvSpPr>
        <p:spPr>
          <a:xfrm>
            <a:off x="5486400" y="1097280"/>
            <a:ext cx="3200400" cy="548640"/>
          </a:xfrm>
          <a:prstGeom prst="rect">
            <a:avLst/>
          </a:prstGeom>
          <a:noFill/>
          <a:ln/>
        </p:spPr>
        <p:txBody>
          <a:bodyPr wrap="square" lIns="0" tIns="0" rIns="0" bIns="0" rtlCol="0" anchor="t"/>
          <a:lstStyle/>
          <a:p>
            <a:pPr indent="0" marL="0">
              <a:buNone/>
            </a:pPr>
            <a:r>
              <a:rPr lang="en-US" sz="3400" b="1" dirty="0">
                <a:solidFill>
                  <a:srgbClr val="2774AE"/>
                </a:solidFill>
                <a:latin typeface="Arial" pitchFamily="34" charset="0"/>
                <a:ea typeface="Arial" pitchFamily="34" charset="-122"/>
                <a:cs typeface="Arial" pitchFamily="34" charset="-120"/>
              </a:rPr>
              <a:t>0.5 pts</a:t>
            </a:r>
            <a:endParaRPr lang="en-US" sz="3400" dirty="0"/>
          </a:p>
        </p:txBody>
      </p:sp>
      <p:sp>
        <p:nvSpPr>
          <p:cNvPr id="6" name="Text 3"/>
          <p:cNvSpPr txBox="1"/>
          <p:nvPr/>
        </p:nvSpPr>
        <p:spPr>
          <a:xfrm>
            <a:off x="5486400" y="1664208"/>
            <a:ext cx="3200400" cy="411480"/>
          </a:xfrm>
          <a:prstGeom prst="rect">
            <a:avLst/>
          </a:prstGeom>
          <a:noFill/>
          <a:ln/>
        </p:spPr>
        <p:txBody>
          <a:bodyPr wrap="square" lIns="0" tIns="0" rIns="0" bIns="0" rtlCol="0" anchor="t"/>
          <a:lstStyle/>
          <a:p>
            <a:pPr indent="0" marL="0">
              <a:buNone/>
            </a:pPr>
            <a:r>
              <a:rPr lang="en-US" sz="1200" dirty="0">
                <a:solidFill>
                  <a:srgbClr val="666666"/>
                </a:solidFill>
                <a:latin typeface="Arial" pitchFamily="34" charset="0"/>
                <a:ea typeface="Arial" pitchFamily="34" charset="-122"/>
                <a:cs typeface="Arial" pitchFamily="34" charset="-120"/>
              </a:rPr>
              <a:t>average gap between win rate and price, 129,866 markets</a:t>
            </a:r>
            <a:endParaRPr lang="en-US" sz="1200" dirty="0"/>
          </a:p>
        </p:txBody>
      </p:sp>
      <p:sp>
        <p:nvSpPr>
          <p:cNvPr id="7" name="Text 4"/>
          <p:cNvSpPr txBox="1"/>
          <p:nvPr/>
        </p:nvSpPr>
        <p:spPr>
          <a:xfrm>
            <a:off x="5486400" y="2194560"/>
            <a:ext cx="3200400" cy="21945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Long shots under 2¢ won 0.8% of the time vs 1.6% priced; 2–5¢ won 2.5% vs 3.5%</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95–100¢ favorites won 1 point more often than priced</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Gold: long shots overpriced; blue: favorites underpriced</a:t>
            </a:r>
            <a:endParaRPr lang="en-US" sz="1200" dirty="0"/>
          </a:p>
        </p:txBody>
      </p:sp>
      <p:sp>
        <p:nvSpPr>
          <p:cNvPr id="8" name="Text 5"/>
          <p:cNvSpPr txBox="1"/>
          <p:nvPr/>
        </p:nvSpPr>
        <p:spPr>
          <a:xfrm>
            <a:off x="457200" y="4526280"/>
            <a:ext cx="8229600" cy="201168"/>
          </a:xfrm>
          <a:prstGeom prst="rect">
            <a:avLst/>
          </a:prstGeom>
          <a:noFill/>
          <a:ln/>
        </p:spPr>
        <p:txBody>
          <a:bodyPr wrap="square" lIns="0" tIns="0" rIns="0" bIns="0" rtlCol="0" anchor="t"/>
          <a:lstStyle/>
          <a:p>
            <a:pPr indent="0" marL="0">
              <a:buNone/>
            </a:pPr>
            <a:r>
              <a:rPr lang="en-US" sz="900" dirty="0">
                <a:solidFill>
                  <a:srgbClr val="666666"/>
                </a:solidFill>
                <a:latin typeface="Arial" pitchFamily="34" charset="0"/>
                <a:ea typeface="Arial" pitchFamily="34" charset="-122"/>
                <a:cs typeface="Arial" pitchFamily="34" charset="-120"/>
              </a:rPr>
              <a:t>Data: Kalshi course database, hourly candles Oct 8–27, 2026  ·  first quote per finalized market (spread ≤ 5¢)  ·  95% Wilson intervals</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28600"/>
          </a:xfrm>
          <a:prstGeom prst="rect">
            <a:avLst/>
          </a:prstGeom>
          <a:noFill/>
          <a:ln/>
        </p:spPr>
        <p:txBody>
          <a:bodyPr wrap="square" lIns="0" tIns="0" rIns="0" bIns="0" rtlCol="0"/>
          <a:lstStyle/>
          <a:p>
            <a:pPr indent="0" marL="0">
              <a:buNone/>
            </a:pPr>
            <a:r>
              <a:rPr lang="en-US" sz="1100" b="1" spc="100" kern="0" dirty="0">
                <a:solidFill>
                  <a:srgbClr val="2774AE"/>
                </a:solidFill>
                <a:latin typeface="Arial" pitchFamily="34" charset="0"/>
                <a:ea typeface="Arial" pitchFamily="34" charset="-122"/>
                <a:cs typeface="Arial" pitchFamily="34" charset="-120"/>
              </a:rPr>
              <a:t>FAVORITES</a:t>
            </a:r>
            <a:endParaRPr lang="en-US" sz="1100" dirty="0"/>
          </a:p>
        </p:txBody>
      </p:sp>
      <p:sp>
        <p:nvSpPr>
          <p:cNvPr id="3" name="Text 0"/>
          <p:cNvSpPr/>
          <p:nvPr>
            <p:ph idx="101" type="title" hasCustomPrompt="1"/>
          </p:nvPr>
        </p:nvSpPr>
        <p:spPr>
          <a:xfrm>
            <a:off x="457200" y="429768"/>
            <a:ext cx="8229600" cy="502920"/>
          </a:xfrm>
          <a:prstGeom prst="rect">
            <a:avLst/>
          </a:prstGeom>
          <a:noFill/>
          <a:ln/>
        </p:spPr>
        <p:txBody>
          <a:bodyPr wrap="square" lIns="0" tIns="0" rIns="0" bIns="0" rtlCol="0" anchor="ctr"/>
          <a:lstStyle/>
          <a:p>
            <a:pPr algn="l" indent="0" marL="0">
              <a:buNone/>
            </a:pPr>
            <a:r>
              <a:rPr lang="en-US" sz="2600" b="1" dirty="0">
                <a:solidFill>
                  <a:srgbClr val="005587"/>
                </a:solidFill>
                <a:latin typeface="Arial" pitchFamily="34" charset="0"/>
                <a:ea typeface="Arial" pitchFamily="34" charset="-122"/>
                <a:cs typeface="Arial" pitchFamily="34" charset="-120"/>
              </a:rPr>
              <a:t>Economics favorites were underpriced</a:t>
            </a:r>
            <a:endParaRPr lang="en-US" sz="2600" dirty="0"/>
          </a:p>
        </p:txBody>
      </p:sp>
      <p:pic>
        <p:nvPicPr>
          <p:cNvPr id="4" name="loss_by_category.png" descr="loss by category">    </p:cNvPr>
          <p:cNvPicPr>
            <a:picLocks noChangeAspect="1"/>
          </p:cNvPicPr>
          <p:nvPr/>
        </p:nvPicPr>
        <p:blipFill>
          <a:blip r:embed="rId1"/>
          <a:stretch>
            <a:fillRect/>
          </a:stretch>
        </p:blipFill>
        <p:spPr>
          <a:xfrm>
            <a:off x="457200" y="1005840"/>
            <a:ext cx="5486400" cy="3168261"/>
          </a:xfrm>
          <a:prstGeom prst="rect">
            <a:avLst/>
          </a:prstGeom>
        </p:spPr>
      </p:pic>
      <p:sp>
        <p:nvSpPr>
          <p:cNvPr id="5" name="Text 2"/>
          <p:cNvSpPr txBox="1"/>
          <p:nvPr/>
        </p:nvSpPr>
        <p:spPr>
          <a:xfrm>
            <a:off x="6172200" y="1097280"/>
            <a:ext cx="2514600" cy="3291840"/>
          </a:xfrm>
          <a:prstGeom prst="rect">
            <a:avLst/>
          </a:prstGeom>
          <a:noFill/>
          <a:ln/>
        </p:spPr>
        <p:txBody>
          <a:bodyPr wrap="square" lIns="0" tIns="0" rIns="0" bIns="0" rtlCol="0" anchor="t"/>
          <a:lstStyle/>
          <a:p>
            <a:pPr indent="0" marL="0">
              <a:buNone/>
            </a:pPr>
            <a:r>
              <a:rPr lang="en-US" sz="1200" b="1" dirty="0">
                <a:solidFill>
                  <a:srgbClr val="005587"/>
                </a:solidFill>
                <a:latin typeface="Arial" pitchFamily="34" charset="0"/>
                <a:ea typeface="Arial" pitchFamily="34" charset="-122"/>
                <a:cs typeface="Arial" pitchFamily="34" charset="-120"/>
              </a:rPr>
              <a:t>10,351 favorites, 513 lost</a:t>
            </a:r>
            <a:endParaRPr lang="en-US" sz="1200" dirty="0"/>
          </a:p>
          <a:p>
            <a:pPr indent="0" marL="0">
              <a:buNone/>
            </a:pPr>
            <a:r>
              <a:rPr lang="en-US" sz="1200" dirty="0">
                <a:solidFill>
                  <a:srgbClr val="333333"/>
                </a:solidFill>
                <a:latin typeface="Arial" pitchFamily="34" charset="0"/>
                <a:ea typeface="Arial" pitchFamily="34" charset="-122"/>
                <a:cs typeface="Arial" pitchFamily="34" charset="-120"/>
              </a:rPr>
              <a:t>First quote per market with ask 90–99¢, midpoint ≥ 90¢, spread ≤ 5¢</a:t>
            </a:r>
            <a:endParaRPr lang="en-US" sz="1200" dirty="0"/>
          </a:p>
          <a:p>
            <a:pPr indent="0" marL="0">
              <a:buNone/>
            </a:pPr>
            <a:r>
              <a:rPr lang="en-US" sz="800" dirty="0">
                <a:solidFill>
                  <a:srgbClr val="333333"/>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005587"/>
                </a:solidFill>
                <a:latin typeface="Arial" pitchFamily="34" charset="0"/>
                <a:ea typeface="Arial" pitchFamily="34" charset="-122"/>
                <a:cs typeface="Arial" pitchFamily="34" charset="-120"/>
              </a:rPr>
              <a:t>Economics</a:t>
            </a:r>
            <a:endParaRPr lang="en-US" sz="1200" dirty="0"/>
          </a:p>
          <a:p>
            <a:pPr indent="0" marL="0">
              <a:buNone/>
            </a:pPr>
            <a:r>
              <a:rPr lang="en-US" sz="1200" dirty="0">
                <a:solidFill>
                  <a:srgbClr val="333333"/>
                </a:solidFill>
                <a:latin typeface="Arial" pitchFamily="34" charset="0"/>
                <a:ea typeface="Arial" pitchFamily="34" charset="-122"/>
                <a:cs typeface="Arial" pitchFamily="34" charset="-120"/>
              </a:rPr>
              <a:t>0.5% lost vs 3.5% implied; 95% CI of the gap [−3.4, −2.6] pts; held in every period; mostly AAA gas-price markets</a:t>
            </a:r>
            <a:endParaRPr lang="en-US" sz="1200" dirty="0"/>
          </a:p>
          <a:p>
            <a:pPr indent="0" marL="0">
              <a:buNone/>
            </a:pPr>
            <a:r>
              <a:rPr lang="en-US" sz="800" dirty="0">
                <a:solidFill>
                  <a:srgbClr val="333333"/>
                </a:solidFill>
                <a:latin typeface="Arial" pitchFamily="34" charset="0"/>
                <a:ea typeface="Arial" pitchFamily="34" charset="-122"/>
                <a:cs typeface="Arial" pitchFamily="34" charset="-120"/>
              </a:rPr>
              <a:t> </a:t>
            </a:r>
            <a:endParaRPr lang="en-US" sz="1200" dirty="0"/>
          </a:p>
          <a:p>
            <a:pPr indent="0" marL="0">
              <a:buNone/>
            </a:pPr>
            <a:r>
              <a:rPr lang="en-US" sz="1200" dirty="0">
                <a:solidFill>
                  <a:srgbClr val="333333"/>
                </a:solidFill>
                <a:latin typeface="Arial" pitchFamily="34" charset="0"/>
                <a:ea typeface="Arial" pitchFamily="34" charset="-122"/>
                <a:cs typeface="Arial" pitchFamily="34" charset="-120"/>
              </a:rPr>
              <a:t>Financials 7.3% vs 4.8%, but its CI includes 0</a:t>
            </a:r>
            <a:endParaRPr lang="en-US" sz="1200" dirty="0"/>
          </a:p>
        </p:txBody>
      </p:sp>
      <p:sp>
        <p:nvSpPr>
          <p:cNvPr id="6" name="Text 3"/>
          <p:cNvSpPr txBox="1"/>
          <p:nvPr/>
        </p:nvSpPr>
        <p:spPr>
          <a:xfrm>
            <a:off x="457200" y="4526280"/>
            <a:ext cx="8229600" cy="201168"/>
          </a:xfrm>
          <a:prstGeom prst="rect">
            <a:avLst/>
          </a:prstGeom>
          <a:noFill/>
          <a:ln/>
        </p:spPr>
        <p:txBody>
          <a:bodyPr wrap="square" lIns="0" tIns="0" rIns="0" bIns="0" rtlCol="0" anchor="t"/>
          <a:lstStyle/>
          <a:p>
            <a:pPr indent="0" marL="0">
              <a:buNone/>
            </a:pPr>
            <a:r>
              <a:rPr lang="en-US" sz="900" dirty="0">
                <a:solidFill>
                  <a:srgbClr val="666666"/>
                </a:solidFill>
                <a:latin typeface="Arial" pitchFamily="34" charset="0"/>
                <a:ea typeface="Arial" pitchFamily="34" charset="-122"/>
                <a:cs typeface="Arial" pitchFamily="34" charset="-120"/>
              </a:rPr>
              <a:t>Data: Kalshi course database, hourly candles Oct 8–27, 2026  ·  intervals resample whole events (1,000 bootstrap draws)</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28600"/>
          </a:xfrm>
          <a:prstGeom prst="rect">
            <a:avLst/>
          </a:prstGeom>
          <a:noFill/>
          <a:ln/>
        </p:spPr>
        <p:txBody>
          <a:bodyPr wrap="square" lIns="0" tIns="0" rIns="0" bIns="0" rtlCol="0"/>
          <a:lstStyle/>
          <a:p>
            <a:pPr indent="0" marL="0">
              <a:buNone/>
            </a:pPr>
            <a:r>
              <a:rPr lang="en-US" sz="1100" b="1" spc="100" kern="0" dirty="0">
                <a:solidFill>
                  <a:srgbClr val="2774AE"/>
                </a:solidFill>
                <a:latin typeface="Arial" pitchFamily="34" charset="0"/>
                <a:ea typeface="Arial" pitchFamily="34" charset="-122"/>
                <a:cs typeface="Arial" pitchFamily="34" charset="-120"/>
              </a:rPr>
              <a:t>FAVORITES</a:t>
            </a:r>
            <a:endParaRPr lang="en-US" sz="1100" dirty="0"/>
          </a:p>
        </p:txBody>
      </p:sp>
      <p:sp>
        <p:nvSpPr>
          <p:cNvPr id="3" name="Text 0"/>
          <p:cNvSpPr/>
          <p:nvPr>
            <p:ph idx="101" type="title" hasCustomPrompt="1"/>
          </p:nvPr>
        </p:nvSpPr>
        <p:spPr>
          <a:xfrm>
            <a:off x="457200" y="429768"/>
            <a:ext cx="8229600" cy="502920"/>
          </a:xfrm>
          <a:prstGeom prst="rect">
            <a:avLst/>
          </a:prstGeom>
          <a:noFill/>
          <a:ln/>
        </p:spPr>
        <p:txBody>
          <a:bodyPr wrap="square" lIns="0" tIns="0" rIns="0" bIns="0" rtlCol="0" anchor="ctr"/>
          <a:lstStyle/>
          <a:p>
            <a:pPr algn="l" indent="0" marL="0">
              <a:buNone/>
            </a:pPr>
            <a:r>
              <a:rPr lang="en-US" sz="2600" b="1" dirty="0">
                <a:solidFill>
                  <a:srgbClr val="005587"/>
                </a:solidFill>
                <a:latin typeface="Arial" pitchFamily="34" charset="0"/>
                <a:ea typeface="Arial" pitchFamily="34" charset="-122"/>
                <a:cs typeface="Arial" pitchFamily="34" charset="-120"/>
              </a:rPr>
              <a:t>Favorites lose as priced until the event starts</a:t>
            </a:r>
            <a:endParaRPr lang="en-US" sz="2600" dirty="0"/>
          </a:p>
        </p:txBody>
      </p:sp>
      <p:pic>
        <p:nvPicPr>
          <p:cNvPr id="4" name="loss_by_time_to_event.png" descr="loss by time to event">    </p:cNvPr>
          <p:cNvPicPr>
            <a:picLocks noChangeAspect="1"/>
          </p:cNvPicPr>
          <p:nvPr/>
        </p:nvPicPr>
        <p:blipFill>
          <a:blip r:embed="rId1"/>
          <a:stretch>
            <a:fillRect/>
          </a:stretch>
        </p:blipFill>
        <p:spPr>
          <a:xfrm>
            <a:off x="457200" y="1005840"/>
            <a:ext cx="4640819" cy="3429000"/>
          </a:xfrm>
          <a:prstGeom prst="rect">
            <a:avLst/>
          </a:prstGeom>
        </p:spPr>
      </p:pic>
      <p:sp>
        <p:nvSpPr>
          <p:cNvPr id="5" name="Text 2"/>
          <p:cNvSpPr txBox="1"/>
          <p:nvPr/>
        </p:nvSpPr>
        <p:spPr>
          <a:xfrm>
            <a:off x="5852160" y="1143000"/>
            <a:ext cx="2834640" cy="329184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From 1 hour to 3 days out, loss rates match the price</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At or after the scheduled event start: 2.7–3.2% lost vs about 5% implied</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A small effect, and not stable across periods</a:t>
            </a:r>
            <a:endParaRPr lang="en-US" sz="1200" dirty="0"/>
          </a:p>
        </p:txBody>
      </p:sp>
      <p:sp>
        <p:nvSpPr>
          <p:cNvPr id="6" name="Text 3"/>
          <p:cNvSpPr txBox="1"/>
          <p:nvPr/>
        </p:nvSpPr>
        <p:spPr>
          <a:xfrm>
            <a:off x="457200" y="4526280"/>
            <a:ext cx="8229600" cy="201168"/>
          </a:xfrm>
          <a:prstGeom prst="rect">
            <a:avLst/>
          </a:prstGeom>
          <a:noFill/>
          <a:ln/>
        </p:spPr>
        <p:txBody>
          <a:bodyPr wrap="square" lIns="0" tIns="0" rIns="0" bIns="0" rtlCol="0" anchor="t"/>
          <a:lstStyle/>
          <a:p>
            <a:pPr indent="0" marL="0">
              <a:buNone/>
            </a:pPr>
            <a:r>
              <a:rPr lang="en-US" sz="900" dirty="0">
                <a:solidFill>
                  <a:srgbClr val="666666"/>
                </a:solidFill>
                <a:latin typeface="Arial" pitchFamily="34" charset="0"/>
                <a:ea typeface="Arial" pitchFamily="34" charset="-122"/>
                <a:cs typeface="Arial" pitchFamily="34" charset="-120"/>
              </a:rPr>
              <a:t>Data: Kalshi course database, hourly candles Oct 8–27, 2026  ·  time from entry to the scheduled event time  ·  all periods, n = 10,351</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28600"/>
          </a:xfrm>
          <a:prstGeom prst="rect">
            <a:avLst/>
          </a:prstGeom>
          <a:noFill/>
          <a:ln/>
        </p:spPr>
        <p:txBody>
          <a:bodyPr wrap="square" lIns="0" tIns="0" rIns="0" bIns="0" rtlCol="0"/>
          <a:lstStyle/>
          <a:p>
            <a:pPr indent="0" marL="0">
              <a:buNone/>
            </a:pPr>
            <a:r>
              <a:rPr lang="en-US" sz="1100" b="1" spc="100" kern="0" dirty="0">
                <a:solidFill>
                  <a:srgbClr val="2774AE"/>
                </a:solidFill>
                <a:latin typeface="Arial" pitchFamily="34" charset="0"/>
                <a:ea typeface="Arial" pitchFamily="34" charset="-122"/>
                <a:cs typeface="Arial" pitchFamily="34" charset="-120"/>
              </a:rPr>
              <a:t>MODELS</a:t>
            </a:r>
            <a:endParaRPr lang="en-US" sz="1100" dirty="0"/>
          </a:p>
        </p:txBody>
      </p:sp>
      <p:sp>
        <p:nvSpPr>
          <p:cNvPr id="3" name="Text 0"/>
          <p:cNvSpPr/>
          <p:nvPr>
            <p:ph idx="101" type="title" hasCustomPrompt="1"/>
          </p:nvPr>
        </p:nvSpPr>
        <p:spPr>
          <a:xfrm>
            <a:off x="457200" y="429768"/>
            <a:ext cx="8229600" cy="502920"/>
          </a:xfrm>
          <a:prstGeom prst="rect">
            <a:avLst/>
          </a:prstGeom>
          <a:noFill/>
          <a:ln/>
        </p:spPr>
        <p:txBody>
          <a:bodyPr wrap="square" lIns="0" tIns="0" rIns="0" bIns="0" rtlCol="0" anchor="ctr"/>
          <a:lstStyle/>
          <a:p>
            <a:pPr algn="l" indent="0" marL="0">
              <a:buNone/>
            </a:pPr>
            <a:r>
              <a:rPr lang="en-US" sz="2600" b="1" dirty="0">
                <a:solidFill>
                  <a:srgbClr val="005587"/>
                </a:solidFill>
                <a:latin typeface="Arial" pitchFamily="34" charset="0"/>
                <a:ea typeface="Arial" pitchFamily="34" charset="-122"/>
                <a:cs typeface="Arial" pitchFamily="34" charset="-120"/>
              </a:rPr>
              <a:t>We split by date and tuned three model families</a:t>
            </a:r>
            <a:endParaRPr lang="en-US" sz="2600" dirty="0"/>
          </a:p>
        </p:txBody>
      </p:sp>
      <p:sp>
        <p:nvSpPr>
          <p:cNvPr id="4" name="split-Train"/>
          <p:cNvSpPr/>
          <p:nvPr/>
        </p:nvSpPr>
        <p:spPr>
          <a:xfrm>
            <a:off x="457200" y="1097280"/>
            <a:ext cx="2560320" cy="1143000"/>
          </a:xfrm>
          <a:prstGeom prst="roundRect">
            <a:avLst>
              <a:gd name="adj" fmla="val 6400"/>
            </a:avLst>
          </a:prstGeom>
          <a:solidFill>
            <a:srgbClr val="DAEBFE"/>
          </a:solidFill>
          <a:ln w="12700">
            <a:solidFill>
              <a:srgbClr val="DAEBFE"/>
            </a:solidFill>
            <a:prstDash val="solid"/>
          </a:ln>
        </p:spPr>
      </p:sp>
      <p:sp>
        <p:nvSpPr>
          <p:cNvPr id="5" name="Text 3"/>
          <p:cNvSpPr txBox="1"/>
          <p:nvPr/>
        </p:nvSpPr>
        <p:spPr>
          <a:xfrm>
            <a:off x="640080" y="1170432"/>
            <a:ext cx="2194560" cy="329184"/>
          </a:xfrm>
          <a:prstGeom prst="rect">
            <a:avLst/>
          </a:prstGeom>
          <a:noFill/>
          <a:ln/>
        </p:spPr>
        <p:txBody>
          <a:bodyPr wrap="square" lIns="0" tIns="0" rIns="0" bIns="0" rtlCol="0" anchor="t"/>
          <a:lstStyle/>
          <a:p>
            <a:pPr indent="0" marL="0">
              <a:buNone/>
            </a:pPr>
            <a:r>
              <a:rPr lang="en-US" sz="1700" b="1" dirty="0">
                <a:solidFill>
                  <a:srgbClr val="005587"/>
                </a:solidFill>
                <a:latin typeface="Arial" pitchFamily="34" charset="0"/>
                <a:ea typeface="Arial" pitchFamily="34" charset="-122"/>
                <a:cs typeface="Arial" pitchFamily="34" charset="-120"/>
              </a:rPr>
              <a:t>Train</a:t>
            </a:r>
            <a:endParaRPr lang="en-US" sz="1700" dirty="0"/>
          </a:p>
        </p:txBody>
      </p:sp>
      <p:sp>
        <p:nvSpPr>
          <p:cNvPr id="6" name="Text 4"/>
          <p:cNvSpPr txBox="1"/>
          <p:nvPr/>
        </p:nvSpPr>
        <p:spPr>
          <a:xfrm>
            <a:off x="640080" y="1517904"/>
            <a:ext cx="2194560" cy="237744"/>
          </a:xfrm>
          <a:prstGeom prst="rect">
            <a:avLst/>
          </a:prstGeom>
          <a:noFill/>
          <a:ln/>
        </p:spPr>
        <p:txBody>
          <a:bodyPr wrap="square" lIns="0" tIns="0" rIns="0" bIns="0" rtlCol="0" anchor="t"/>
          <a:lstStyle/>
          <a:p>
            <a:pPr indent="0" marL="0">
              <a:buNone/>
            </a:pPr>
            <a:r>
              <a:rPr lang="en-US" sz="1200" dirty="0">
                <a:solidFill>
                  <a:srgbClr val="666666"/>
                </a:solidFill>
                <a:latin typeface="Arial" pitchFamily="34" charset="0"/>
                <a:ea typeface="Arial" pitchFamily="34" charset="-122"/>
                <a:cs typeface="Arial" pitchFamily="34" charset="-120"/>
              </a:rPr>
              <a:t>Entries Oct 9–11</a:t>
            </a:r>
            <a:endParaRPr lang="en-US" sz="1200" dirty="0"/>
          </a:p>
        </p:txBody>
      </p:sp>
      <p:sp>
        <p:nvSpPr>
          <p:cNvPr id="7" name="Text 5"/>
          <p:cNvSpPr txBox="1"/>
          <p:nvPr/>
        </p:nvSpPr>
        <p:spPr>
          <a:xfrm>
            <a:off x="640080" y="1810512"/>
            <a:ext cx="2194560" cy="274320"/>
          </a:xfrm>
          <a:prstGeom prst="rect">
            <a:avLst/>
          </a:prstGeom>
          <a:noFill/>
          <a:ln/>
        </p:spPr>
        <p:txBody>
          <a:bodyPr wrap="square" lIns="0" tIns="0" rIns="0" bIns="0" rtlCol="0" anchor="t"/>
          <a:lstStyle/>
          <a:p>
            <a:pPr indent="0" marL="0">
              <a:buNone/>
            </a:pPr>
            <a:r>
              <a:rPr lang="en-US" sz="1300" b="1" dirty="0">
                <a:solidFill>
                  <a:srgbClr val="333333"/>
                </a:solidFill>
                <a:latin typeface="Arial" pitchFamily="34" charset="0"/>
                <a:ea typeface="Arial" pitchFamily="34" charset="-122"/>
                <a:cs typeface="Arial" pitchFamily="34" charset="-120"/>
              </a:rPr>
              <a:t>4,358 markets · 179 losses</a:t>
            </a:r>
            <a:endParaRPr lang="en-US" sz="1300" dirty="0"/>
          </a:p>
        </p:txBody>
      </p:sp>
      <p:sp>
        <p:nvSpPr>
          <p:cNvPr id="8" name="split-Validation"/>
          <p:cNvSpPr/>
          <p:nvPr/>
        </p:nvSpPr>
        <p:spPr>
          <a:xfrm>
            <a:off x="3246120" y="1097280"/>
            <a:ext cx="2560320" cy="1143000"/>
          </a:xfrm>
          <a:prstGeom prst="roundRect">
            <a:avLst>
              <a:gd name="adj" fmla="val 6400"/>
            </a:avLst>
          </a:prstGeom>
          <a:solidFill>
            <a:srgbClr val="DAEBFE"/>
          </a:solidFill>
          <a:ln w="12700">
            <a:solidFill>
              <a:srgbClr val="DAEBFE"/>
            </a:solidFill>
            <a:prstDash val="solid"/>
          </a:ln>
        </p:spPr>
      </p:sp>
      <p:sp>
        <p:nvSpPr>
          <p:cNvPr id="9" name="Text 7"/>
          <p:cNvSpPr txBox="1"/>
          <p:nvPr/>
        </p:nvSpPr>
        <p:spPr>
          <a:xfrm>
            <a:off x="3429000" y="1170432"/>
            <a:ext cx="2194560" cy="329184"/>
          </a:xfrm>
          <a:prstGeom prst="rect">
            <a:avLst/>
          </a:prstGeom>
          <a:noFill/>
          <a:ln/>
        </p:spPr>
        <p:txBody>
          <a:bodyPr wrap="square" lIns="0" tIns="0" rIns="0" bIns="0" rtlCol="0" anchor="t"/>
          <a:lstStyle/>
          <a:p>
            <a:pPr indent="0" marL="0">
              <a:buNone/>
            </a:pPr>
            <a:r>
              <a:rPr lang="en-US" sz="1700" b="1" dirty="0">
                <a:solidFill>
                  <a:srgbClr val="005587"/>
                </a:solidFill>
                <a:latin typeface="Arial" pitchFamily="34" charset="0"/>
                <a:ea typeface="Arial" pitchFamily="34" charset="-122"/>
                <a:cs typeface="Arial" pitchFamily="34" charset="-120"/>
              </a:rPr>
              <a:t>Validation</a:t>
            </a:r>
            <a:endParaRPr lang="en-US" sz="1700" dirty="0"/>
          </a:p>
        </p:txBody>
      </p:sp>
      <p:sp>
        <p:nvSpPr>
          <p:cNvPr id="10" name="Text 8"/>
          <p:cNvSpPr txBox="1"/>
          <p:nvPr/>
        </p:nvSpPr>
        <p:spPr>
          <a:xfrm>
            <a:off x="3429000" y="1517904"/>
            <a:ext cx="2194560" cy="237744"/>
          </a:xfrm>
          <a:prstGeom prst="rect">
            <a:avLst/>
          </a:prstGeom>
          <a:noFill/>
          <a:ln/>
        </p:spPr>
        <p:txBody>
          <a:bodyPr wrap="square" lIns="0" tIns="0" rIns="0" bIns="0" rtlCol="0" anchor="t"/>
          <a:lstStyle/>
          <a:p>
            <a:pPr indent="0" marL="0">
              <a:buNone/>
            </a:pPr>
            <a:r>
              <a:rPr lang="en-US" sz="1200" dirty="0">
                <a:solidFill>
                  <a:srgbClr val="666666"/>
                </a:solidFill>
                <a:latin typeface="Arial" pitchFamily="34" charset="0"/>
                <a:ea typeface="Arial" pitchFamily="34" charset="-122"/>
                <a:cs typeface="Arial" pitchFamily="34" charset="-120"/>
              </a:rPr>
              <a:t>Entries Oct 15–18</a:t>
            </a:r>
            <a:endParaRPr lang="en-US" sz="1200" dirty="0"/>
          </a:p>
        </p:txBody>
      </p:sp>
      <p:sp>
        <p:nvSpPr>
          <p:cNvPr id="11" name="Text 9"/>
          <p:cNvSpPr txBox="1"/>
          <p:nvPr/>
        </p:nvSpPr>
        <p:spPr>
          <a:xfrm>
            <a:off x="3429000" y="1810512"/>
            <a:ext cx="2194560" cy="274320"/>
          </a:xfrm>
          <a:prstGeom prst="rect">
            <a:avLst/>
          </a:prstGeom>
          <a:noFill/>
          <a:ln/>
        </p:spPr>
        <p:txBody>
          <a:bodyPr wrap="square" lIns="0" tIns="0" rIns="0" bIns="0" rtlCol="0" anchor="t"/>
          <a:lstStyle/>
          <a:p>
            <a:pPr indent="0" marL="0">
              <a:buNone/>
            </a:pPr>
            <a:r>
              <a:rPr lang="en-US" sz="1300" b="1" dirty="0">
                <a:solidFill>
                  <a:srgbClr val="333333"/>
                </a:solidFill>
                <a:latin typeface="Arial" pitchFamily="34" charset="0"/>
                <a:ea typeface="Arial" pitchFamily="34" charset="-122"/>
                <a:cs typeface="Arial" pitchFamily="34" charset="-120"/>
              </a:rPr>
              <a:t>3,694 markets · 220 losses</a:t>
            </a:r>
            <a:endParaRPr lang="en-US" sz="1300" dirty="0"/>
          </a:p>
        </p:txBody>
      </p:sp>
      <p:sp>
        <p:nvSpPr>
          <p:cNvPr id="12" name="split-Test"/>
          <p:cNvSpPr/>
          <p:nvPr/>
        </p:nvSpPr>
        <p:spPr>
          <a:xfrm>
            <a:off x="6035040" y="1097280"/>
            <a:ext cx="2560320" cy="1143000"/>
          </a:xfrm>
          <a:prstGeom prst="roundRect">
            <a:avLst>
              <a:gd name="adj" fmla="val 6400"/>
            </a:avLst>
          </a:prstGeom>
          <a:solidFill>
            <a:srgbClr val="DAEBFE"/>
          </a:solidFill>
          <a:ln w="12700">
            <a:solidFill>
              <a:srgbClr val="DAEBFE"/>
            </a:solidFill>
            <a:prstDash val="solid"/>
          </a:ln>
        </p:spPr>
      </p:sp>
      <p:sp>
        <p:nvSpPr>
          <p:cNvPr id="13" name="Text 11"/>
          <p:cNvSpPr txBox="1"/>
          <p:nvPr/>
        </p:nvSpPr>
        <p:spPr>
          <a:xfrm>
            <a:off x="6217920" y="1170432"/>
            <a:ext cx="2194560" cy="329184"/>
          </a:xfrm>
          <a:prstGeom prst="rect">
            <a:avLst/>
          </a:prstGeom>
          <a:noFill/>
          <a:ln/>
        </p:spPr>
        <p:txBody>
          <a:bodyPr wrap="square" lIns="0" tIns="0" rIns="0" bIns="0" rtlCol="0" anchor="t"/>
          <a:lstStyle/>
          <a:p>
            <a:pPr indent="0" marL="0">
              <a:buNone/>
            </a:pPr>
            <a:r>
              <a:rPr lang="en-US" sz="1700" b="1" dirty="0">
                <a:solidFill>
                  <a:srgbClr val="005587"/>
                </a:solidFill>
                <a:latin typeface="Arial" pitchFamily="34" charset="0"/>
                <a:ea typeface="Arial" pitchFamily="34" charset="-122"/>
                <a:cs typeface="Arial" pitchFamily="34" charset="-120"/>
              </a:rPr>
              <a:t>Test</a:t>
            </a:r>
            <a:endParaRPr lang="en-US" sz="1700" dirty="0"/>
          </a:p>
        </p:txBody>
      </p:sp>
      <p:sp>
        <p:nvSpPr>
          <p:cNvPr id="14" name="Text 12"/>
          <p:cNvSpPr txBox="1"/>
          <p:nvPr/>
        </p:nvSpPr>
        <p:spPr>
          <a:xfrm>
            <a:off x="6217920" y="1517904"/>
            <a:ext cx="2194560" cy="237744"/>
          </a:xfrm>
          <a:prstGeom prst="rect">
            <a:avLst/>
          </a:prstGeom>
          <a:noFill/>
          <a:ln/>
        </p:spPr>
        <p:txBody>
          <a:bodyPr wrap="square" lIns="0" tIns="0" rIns="0" bIns="0" rtlCol="0" anchor="t"/>
          <a:lstStyle/>
          <a:p>
            <a:pPr indent="0" marL="0">
              <a:buNone/>
            </a:pPr>
            <a:r>
              <a:rPr lang="en-US" sz="1200" dirty="0">
                <a:solidFill>
                  <a:srgbClr val="666666"/>
                </a:solidFill>
                <a:latin typeface="Arial" pitchFamily="34" charset="0"/>
                <a:ea typeface="Arial" pitchFamily="34" charset="-122"/>
                <a:cs typeface="Arial" pitchFamily="34" charset="-120"/>
              </a:rPr>
              <a:t>Entries Oct 20–25</a:t>
            </a:r>
            <a:endParaRPr lang="en-US" sz="1200" dirty="0"/>
          </a:p>
        </p:txBody>
      </p:sp>
      <p:sp>
        <p:nvSpPr>
          <p:cNvPr id="15" name="Text 13"/>
          <p:cNvSpPr txBox="1"/>
          <p:nvPr/>
        </p:nvSpPr>
        <p:spPr>
          <a:xfrm>
            <a:off x="6217920" y="1810512"/>
            <a:ext cx="2194560" cy="274320"/>
          </a:xfrm>
          <a:prstGeom prst="rect">
            <a:avLst/>
          </a:prstGeom>
          <a:noFill/>
          <a:ln/>
        </p:spPr>
        <p:txBody>
          <a:bodyPr wrap="square" lIns="0" tIns="0" rIns="0" bIns="0" rtlCol="0" anchor="t"/>
          <a:lstStyle/>
          <a:p>
            <a:pPr indent="0" marL="0">
              <a:buNone/>
            </a:pPr>
            <a:r>
              <a:rPr lang="en-US" sz="1300" b="1" dirty="0">
                <a:solidFill>
                  <a:srgbClr val="333333"/>
                </a:solidFill>
                <a:latin typeface="Arial" pitchFamily="34" charset="0"/>
                <a:ea typeface="Arial" pitchFamily="34" charset="-122"/>
                <a:cs typeface="Arial" pitchFamily="34" charset="-120"/>
              </a:rPr>
              <a:t>2,299 markets · 114 losses</a:t>
            </a:r>
            <a:endParaRPr lang="en-US" sz="1300" dirty="0"/>
          </a:p>
        </p:txBody>
      </p:sp>
      <p:sp>
        <p:nvSpPr>
          <p:cNvPr id="16" name="Text 14"/>
          <p:cNvSpPr txBox="1"/>
          <p:nvPr/>
        </p:nvSpPr>
        <p:spPr>
          <a:xfrm>
            <a:off x="457200" y="2468880"/>
            <a:ext cx="3931920" cy="274320"/>
          </a:xfrm>
          <a:prstGeom prst="rect">
            <a:avLst/>
          </a:prstGeom>
          <a:noFill/>
          <a:ln/>
        </p:spPr>
        <p:txBody>
          <a:bodyPr wrap="square" lIns="0" tIns="0" rIns="0" bIns="0" rtlCol="0" anchor="t"/>
          <a:lstStyle/>
          <a:p>
            <a:pPr indent="0" marL="0">
              <a:buNone/>
            </a:pPr>
            <a:r>
              <a:rPr lang="en-US" sz="1400" b="1" dirty="0">
                <a:solidFill>
                  <a:srgbClr val="005587"/>
                </a:solidFill>
                <a:latin typeface="Arial" pitchFamily="34" charset="0"/>
                <a:ea typeface="Arial" pitchFamily="34" charset="-122"/>
                <a:cs typeface="Arial" pitchFamily="34" charset="-120"/>
              </a:rPr>
              <a:t>Features at entry</a:t>
            </a:r>
            <a:endParaRPr lang="en-US" sz="1400" dirty="0"/>
          </a:p>
        </p:txBody>
      </p:sp>
      <p:sp>
        <p:nvSpPr>
          <p:cNvPr id="17" name="Text 15"/>
          <p:cNvSpPr txBox="1"/>
          <p:nvPr/>
        </p:nvSpPr>
        <p:spPr>
          <a:xfrm>
            <a:off x="457200" y="2788920"/>
            <a:ext cx="3931920" cy="16459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Price, spread, open interest</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Volume now and in the prior 6 h</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Hours to the scheduled event; recent price change</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Category; markets in the event</a:t>
            </a:r>
            <a:endParaRPr lang="en-US" sz="1200" dirty="0"/>
          </a:p>
        </p:txBody>
      </p:sp>
      <p:sp>
        <p:nvSpPr>
          <p:cNvPr id="18" name="Text 16"/>
          <p:cNvSpPr txBox="1"/>
          <p:nvPr/>
        </p:nvSpPr>
        <p:spPr>
          <a:xfrm>
            <a:off x="4754880" y="2468880"/>
            <a:ext cx="3931920" cy="274320"/>
          </a:xfrm>
          <a:prstGeom prst="rect">
            <a:avLst/>
          </a:prstGeom>
          <a:noFill/>
          <a:ln/>
        </p:spPr>
        <p:txBody>
          <a:bodyPr wrap="square" lIns="0" tIns="0" rIns="0" bIns="0" rtlCol="0" anchor="t"/>
          <a:lstStyle/>
          <a:p>
            <a:pPr indent="0" marL="0">
              <a:buNone/>
            </a:pPr>
            <a:r>
              <a:rPr lang="en-US" sz="1400" b="1" dirty="0">
                <a:solidFill>
                  <a:srgbClr val="005587"/>
                </a:solidFill>
                <a:latin typeface="Arial" pitchFamily="34" charset="0"/>
                <a:ea typeface="Arial" pitchFamily="34" charset="-122"/>
                <a:cs typeface="Arial" pitchFamily="34" charset="-120"/>
              </a:rPr>
              <a:t>Models (tuned on validation Brier)</a:t>
            </a:r>
            <a:endParaRPr lang="en-US" sz="1400" dirty="0"/>
          </a:p>
        </p:txBody>
      </p:sp>
      <p:sp>
        <p:nvSpPr>
          <p:cNvPr id="19" name="Text 17"/>
          <p:cNvSpPr txBox="1"/>
          <p:nvPr/>
        </p:nvSpPr>
        <p:spPr>
          <a:xfrm>
            <a:off x="4754880" y="2788920"/>
            <a:ext cx="3931920" cy="16459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Elastic-net logistic (Week 3): C = 0.01, L1 share 0.5</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Random forest (Week 4): depth 4</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XGBoost (Week 4): depth 2, learning rate 0.03</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Each with and without volume; baseline = the quoted price</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28600"/>
          </a:xfrm>
          <a:prstGeom prst="rect">
            <a:avLst/>
          </a:prstGeom>
          <a:noFill/>
          <a:ln/>
        </p:spPr>
        <p:txBody>
          <a:bodyPr wrap="square" lIns="0" tIns="0" rIns="0" bIns="0" rtlCol="0"/>
          <a:lstStyle/>
          <a:p>
            <a:pPr indent="0" marL="0">
              <a:buNone/>
            </a:pPr>
            <a:r>
              <a:rPr lang="en-US" sz="1100" b="1" spc="100" kern="0" dirty="0">
                <a:solidFill>
                  <a:srgbClr val="2774AE"/>
                </a:solidFill>
                <a:latin typeface="Arial" pitchFamily="34" charset="0"/>
                <a:ea typeface="Arial" pitchFamily="34" charset="-122"/>
                <a:cs typeface="Arial" pitchFamily="34" charset="-120"/>
              </a:rPr>
              <a:t>MODELS</a:t>
            </a:r>
            <a:endParaRPr lang="en-US" sz="1100" dirty="0"/>
          </a:p>
        </p:txBody>
      </p:sp>
      <p:sp>
        <p:nvSpPr>
          <p:cNvPr id="3" name="Text 0"/>
          <p:cNvSpPr/>
          <p:nvPr>
            <p:ph idx="101" type="title" hasCustomPrompt="1"/>
          </p:nvPr>
        </p:nvSpPr>
        <p:spPr>
          <a:xfrm>
            <a:off x="457200" y="429768"/>
            <a:ext cx="8229600" cy="502920"/>
          </a:xfrm>
          <a:prstGeom prst="rect">
            <a:avLst/>
          </a:prstGeom>
          <a:noFill/>
          <a:ln/>
        </p:spPr>
        <p:txBody>
          <a:bodyPr wrap="square" lIns="0" tIns="0" rIns="0" bIns="0" rtlCol="0" anchor="ctr"/>
          <a:lstStyle/>
          <a:p>
            <a:pPr algn="l" indent="0" marL="0">
              <a:buNone/>
            </a:pPr>
            <a:r>
              <a:rPr lang="en-US" sz="2600" b="1" dirty="0">
                <a:solidFill>
                  <a:srgbClr val="005587"/>
                </a:solidFill>
                <a:latin typeface="Arial" pitchFamily="34" charset="0"/>
                <a:ea typeface="Arial" pitchFamily="34" charset="-122"/>
                <a:cs typeface="Arial" pitchFamily="34" charset="-120"/>
              </a:rPr>
              <a:t>No model beat the quoted price</a:t>
            </a:r>
            <a:endParaRPr lang="en-US" sz="2600" dirty="0"/>
          </a:p>
        </p:txBody>
      </p:sp>
      <p:pic>
        <p:nvPicPr>
          <p:cNvPr id="4" name="model_vs_price.png" descr="model vs price">    </p:cNvPr>
          <p:cNvPicPr>
            <a:picLocks noChangeAspect="1"/>
          </p:cNvPicPr>
          <p:nvPr/>
        </p:nvPicPr>
        <p:blipFill>
          <a:blip r:embed="rId1"/>
          <a:stretch>
            <a:fillRect/>
          </a:stretch>
        </p:blipFill>
        <p:spPr>
          <a:xfrm>
            <a:off x="457200" y="1005840"/>
            <a:ext cx="5394960" cy="3142695"/>
          </a:xfrm>
          <a:prstGeom prst="rect">
            <a:avLst/>
          </a:prstGeom>
        </p:spPr>
      </p:pic>
      <p:sp>
        <p:nvSpPr>
          <p:cNvPr id="5" name="Text 2"/>
          <p:cNvSpPr txBox="1"/>
          <p:nvPr/>
        </p:nvSpPr>
        <p:spPr>
          <a:xfrm>
            <a:off x="6080760" y="1097280"/>
            <a:ext cx="2606040" cy="548640"/>
          </a:xfrm>
          <a:prstGeom prst="rect">
            <a:avLst/>
          </a:prstGeom>
          <a:noFill/>
          <a:ln/>
        </p:spPr>
        <p:txBody>
          <a:bodyPr wrap="square" lIns="0" tIns="0" rIns="0" bIns="0" rtlCol="0" anchor="t"/>
          <a:lstStyle/>
          <a:p>
            <a:pPr indent="0" marL="0">
              <a:buNone/>
            </a:pPr>
            <a:r>
              <a:rPr lang="en-US" sz="3400" b="1" dirty="0">
                <a:solidFill>
                  <a:srgbClr val="2774AE"/>
                </a:solidFill>
                <a:latin typeface="Arial" pitchFamily="34" charset="0"/>
                <a:ea typeface="Arial" pitchFamily="34" charset="-122"/>
                <a:cs typeface="Arial" pitchFamily="34" charset="-120"/>
              </a:rPr>
              <a:t>0.04624</a:t>
            </a:r>
            <a:endParaRPr lang="en-US" sz="3400" dirty="0"/>
          </a:p>
        </p:txBody>
      </p:sp>
      <p:sp>
        <p:nvSpPr>
          <p:cNvPr id="6" name="Text 3"/>
          <p:cNvSpPr txBox="1"/>
          <p:nvPr/>
        </p:nvSpPr>
        <p:spPr>
          <a:xfrm>
            <a:off x="6080760" y="1664208"/>
            <a:ext cx="2606040" cy="411480"/>
          </a:xfrm>
          <a:prstGeom prst="rect">
            <a:avLst/>
          </a:prstGeom>
          <a:noFill/>
          <a:ln/>
        </p:spPr>
        <p:txBody>
          <a:bodyPr wrap="square" lIns="0" tIns="0" rIns="0" bIns="0" rtlCol="0" anchor="t"/>
          <a:lstStyle/>
          <a:p>
            <a:pPr indent="0" marL="0">
              <a:buNone/>
            </a:pPr>
            <a:r>
              <a:rPr lang="en-US" sz="1200" dirty="0">
                <a:solidFill>
                  <a:srgbClr val="666666"/>
                </a:solidFill>
                <a:latin typeface="Arial" pitchFamily="34" charset="0"/>
                <a:ea typeface="Arial" pitchFamily="34" charset="-122"/>
                <a:cs typeface="Arial" pitchFamily="34" charset="-120"/>
              </a:rPr>
              <a:t>test Brier score of the quoted price: the best of all</a:t>
            </a:r>
            <a:endParaRPr lang="en-US" sz="1200" dirty="0"/>
          </a:p>
        </p:txBody>
      </p:sp>
      <p:sp>
        <p:nvSpPr>
          <p:cNvPr id="7" name="Text 4"/>
          <p:cNvSpPr txBox="1"/>
          <p:nvPr/>
        </p:nvSpPr>
        <p:spPr>
          <a:xfrm>
            <a:off x="6080760" y="2194560"/>
            <a:ext cx="2606040" cy="21945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Closest: elastic net, 0.04629 (gap CI −0.00015 to +0.00025)</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Volume changed Brier by at most 0.0001 in every family</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The elastic net set every volume, timing and category coefficient to 0</a:t>
            </a:r>
            <a:endParaRPr lang="en-US" sz="1200" dirty="0"/>
          </a:p>
        </p:txBody>
      </p:sp>
      <p:sp>
        <p:nvSpPr>
          <p:cNvPr id="8" name="Text 5"/>
          <p:cNvSpPr txBox="1"/>
          <p:nvPr/>
        </p:nvSpPr>
        <p:spPr>
          <a:xfrm>
            <a:off x="457200" y="4526280"/>
            <a:ext cx="8229600" cy="201168"/>
          </a:xfrm>
          <a:prstGeom prst="rect">
            <a:avLst/>
          </a:prstGeom>
          <a:noFill/>
          <a:ln/>
        </p:spPr>
        <p:txBody>
          <a:bodyPr wrap="square" lIns="0" tIns="0" rIns="0" bIns="0" rtlCol="0" anchor="t"/>
          <a:lstStyle/>
          <a:p>
            <a:pPr indent="0" marL="0">
              <a:buNone/>
            </a:pPr>
            <a:r>
              <a:rPr lang="en-US" sz="900" dirty="0">
                <a:solidFill>
                  <a:srgbClr val="666666"/>
                </a:solidFill>
                <a:latin typeface="Arial" pitchFamily="34" charset="0"/>
                <a:ea typeface="Arial" pitchFamily="34" charset="-122"/>
                <a:cs typeface="Arial" pitchFamily="34" charset="-120"/>
              </a:rPr>
              <a:t>Data: Kalshi course database, Oct 8–27, 2026  ·  test n = 2,299  ·  event-bootstrap 95% CIs  ·  gray: CI includes 0, gold: worse</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28600"/>
          </a:xfrm>
          <a:prstGeom prst="rect">
            <a:avLst/>
          </a:prstGeom>
          <a:noFill/>
          <a:ln/>
        </p:spPr>
        <p:txBody>
          <a:bodyPr wrap="square" lIns="0" tIns="0" rIns="0" bIns="0" rtlCol="0"/>
          <a:lstStyle/>
          <a:p>
            <a:pPr indent="0" marL="0">
              <a:buNone/>
            </a:pPr>
            <a:r>
              <a:rPr lang="en-US" sz="1100" b="1" spc="100" kern="0" dirty="0">
                <a:solidFill>
                  <a:srgbClr val="2774AE"/>
                </a:solidFill>
                <a:latin typeface="Arial" pitchFamily="34" charset="0"/>
                <a:ea typeface="Arial" pitchFamily="34" charset="-122"/>
                <a:cs typeface="Arial" pitchFamily="34" charset="-120"/>
              </a:rPr>
              <a:t>MODELS</a:t>
            </a:r>
            <a:endParaRPr lang="en-US" sz="1100" dirty="0"/>
          </a:p>
        </p:txBody>
      </p:sp>
      <p:sp>
        <p:nvSpPr>
          <p:cNvPr id="3" name="Text 0"/>
          <p:cNvSpPr/>
          <p:nvPr>
            <p:ph idx="101" type="title" hasCustomPrompt="1"/>
          </p:nvPr>
        </p:nvSpPr>
        <p:spPr>
          <a:xfrm>
            <a:off x="457200" y="429768"/>
            <a:ext cx="8229600" cy="502920"/>
          </a:xfrm>
          <a:prstGeom prst="rect">
            <a:avLst/>
          </a:prstGeom>
          <a:noFill/>
          <a:ln/>
        </p:spPr>
        <p:txBody>
          <a:bodyPr wrap="square" lIns="0" tIns="0" rIns="0" bIns="0" rtlCol="0" anchor="ctr"/>
          <a:lstStyle/>
          <a:p>
            <a:pPr algn="l" indent="0" marL="0">
              <a:buNone/>
            </a:pPr>
            <a:r>
              <a:rPr lang="en-US" sz="2600" b="1" dirty="0">
                <a:solidFill>
                  <a:srgbClr val="005587"/>
                </a:solidFill>
                <a:latin typeface="Arial" pitchFamily="34" charset="0"/>
                <a:ea typeface="Arial" pitchFamily="34" charset="-122"/>
                <a:cs typeface="Arial" pitchFamily="34" charset="-120"/>
              </a:rPr>
              <a:t>Buying every favorite at the ask still lost money</a:t>
            </a:r>
            <a:endParaRPr lang="en-US" sz="2600" dirty="0"/>
          </a:p>
        </p:txBody>
      </p:sp>
      <p:pic>
        <p:nvPicPr>
          <p:cNvPr id="4" name="economics_by_split.png" descr="economics by split">    </p:cNvPr>
          <p:cNvPicPr>
            <a:picLocks noChangeAspect="1"/>
          </p:cNvPicPr>
          <p:nvPr/>
        </p:nvPicPr>
        <p:blipFill>
          <a:blip r:embed="rId1"/>
          <a:stretch>
            <a:fillRect/>
          </a:stretch>
        </p:blipFill>
        <p:spPr>
          <a:xfrm>
            <a:off x="457200" y="1005840"/>
            <a:ext cx="4754880" cy="3308760"/>
          </a:xfrm>
          <a:prstGeom prst="rect">
            <a:avLst/>
          </a:prstGeom>
        </p:spPr>
      </p:pic>
      <p:sp>
        <p:nvSpPr>
          <p:cNvPr id="5" name="gold-card"/>
          <p:cNvSpPr/>
          <p:nvPr/>
        </p:nvSpPr>
        <p:spPr>
          <a:xfrm>
            <a:off x="5486400" y="1097280"/>
            <a:ext cx="3200400" cy="1280160"/>
          </a:xfrm>
          <a:prstGeom prst="roundRect">
            <a:avLst>
              <a:gd name="adj" fmla="val 5714"/>
            </a:avLst>
          </a:prstGeom>
          <a:solidFill>
            <a:srgbClr val="FFD100"/>
          </a:solidFill>
          <a:ln w="12700">
            <a:solidFill>
              <a:srgbClr val="FFD100"/>
            </a:solidFill>
            <a:prstDash val="solid"/>
          </a:ln>
        </p:spPr>
      </p:sp>
      <p:sp>
        <p:nvSpPr>
          <p:cNvPr id="6" name="Text 3"/>
          <p:cNvSpPr txBox="1"/>
          <p:nvPr/>
        </p:nvSpPr>
        <p:spPr>
          <a:xfrm>
            <a:off x="5669280" y="1225296"/>
            <a:ext cx="2834640" cy="548640"/>
          </a:xfrm>
          <a:prstGeom prst="rect">
            <a:avLst/>
          </a:prstGeom>
          <a:noFill/>
          <a:ln/>
        </p:spPr>
        <p:txBody>
          <a:bodyPr wrap="square" lIns="0" tIns="0" rIns="0" bIns="0" rtlCol="0" anchor="t"/>
          <a:lstStyle/>
          <a:p>
            <a:pPr indent="0" marL="0">
              <a:buNone/>
            </a:pPr>
            <a:r>
              <a:rPr lang="en-US" sz="3400" b="1" dirty="0">
                <a:solidFill>
                  <a:srgbClr val="003B5C"/>
                </a:solidFill>
                <a:latin typeface="Arial" pitchFamily="34" charset="0"/>
                <a:ea typeface="Arial" pitchFamily="34" charset="-122"/>
                <a:cs typeface="Arial" pitchFamily="34" charset="-120"/>
              </a:rPr>
              <a:t>−$19.61</a:t>
            </a:r>
            <a:endParaRPr lang="en-US" sz="3400" dirty="0"/>
          </a:p>
        </p:txBody>
      </p:sp>
      <p:sp>
        <p:nvSpPr>
          <p:cNvPr id="7" name="Text 4"/>
          <p:cNvSpPr txBox="1"/>
          <p:nvPr/>
        </p:nvSpPr>
        <p:spPr>
          <a:xfrm>
            <a:off x="5669280" y="1792224"/>
            <a:ext cx="2834640" cy="493776"/>
          </a:xfrm>
          <a:prstGeom prst="rect">
            <a:avLst/>
          </a:prstGeom>
          <a:noFill/>
          <a:ln/>
        </p:spPr>
        <p:txBody>
          <a:bodyPr wrap="square" lIns="0" tIns="0" rIns="0" bIns="0" rtlCol="0" anchor="t"/>
          <a:lstStyle/>
          <a:p>
            <a:pPr indent="0" marL="0">
              <a:buNone/>
            </a:pPr>
            <a:r>
              <a:rPr lang="en-US" sz="1200" dirty="0">
                <a:solidFill>
                  <a:srgbClr val="003B5C"/>
                </a:solidFill>
                <a:latin typeface="Arial" pitchFamily="34" charset="0"/>
                <a:ea typeface="Arial" pitchFamily="34" charset="-122"/>
                <a:cs typeface="Arial" pitchFamily="34" charset="-120"/>
              </a:rPr>
              <a:t>on 2,299 test contracts, even though 95.0% of them won</a:t>
            </a:r>
            <a:endParaRPr lang="en-US" sz="1200" dirty="0"/>
          </a:p>
        </p:txBody>
      </p:sp>
      <p:sp>
        <p:nvSpPr>
          <p:cNvPr id="8" name="Text 5"/>
          <p:cNvSpPr txBox="1"/>
          <p:nvPr/>
        </p:nvSpPr>
        <p:spPr>
          <a:xfrm>
            <a:off x="5486400" y="2606040"/>
            <a:ext cx="3200400" cy="17373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Per contract: −0.85¢ in test, −2.16¢ in validation, +0.25¢ in train</a:t>
            </a:r>
            <a:endParaRPr lang="en-US" sz="1200" dirty="0"/>
          </a:p>
          <a:p>
            <a:pPr marL="177800" indent="-1778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The small favorite edge from slide 6 does not survive buying at the ask</a:t>
            </a:r>
            <a:endParaRPr lang="en-US" sz="1200" dirty="0"/>
          </a:p>
        </p:txBody>
      </p:sp>
      <p:sp>
        <p:nvSpPr>
          <p:cNvPr id="9" name="Text 6"/>
          <p:cNvSpPr txBox="1"/>
          <p:nvPr/>
        </p:nvSpPr>
        <p:spPr>
          <a:xfrm>
            <a:off x="457200" y="4526280"/>
            <a:ext cx="8229600" cy="201168"/>
          </a:xfrm>
          <a:prstGeom prst="rect">
            <a:avLst/>
          </a:prstGeom>
          <a:noFill/>
          <a:ln/>
        </p:spPr>
        <p:txBody>
          <a:bodyPr wrap="square" lIns="0" tIns="0" rIns="0" bIns="0" rtlCol="0" anchor="t"/>
          <a:lstStyle/>
          <a:p>
            <a:pPr indent="0" marL="0">
              <a:buNone/>
            </a:pPr>
            <a:r>
              <a:rPr lang="en-US" sz="900" dirty="0">
                <a:solidFill>
                  <a:srgbClr val="666666"/>
                </a:solidFill>
                <a:latin typeface="Arial" pitchFamily="34" charset="0"/>
                <a:ea typeface="Arial" pitchFamily="34" charset="-122"/>
                <a:cs typeface="Arial" pitchFamily="34" charset="-120"/>
              </a:rPr>
              <a:t>Data: Kalshi course database, Oct 8–27, 2026  ·  one contract at the displayed ask, held to settlement, before fees</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868680"/>
          </a:xfrm>
          <a:prstGeom prst="rect">
            <a:avLst/>
          </a:prstGeom>
          <a:noFill/>
          <a:ln/>
        </p:spPr>
        <p:txBody>
          <a:bodyPr wrap="square" lIns="0" tIns="0" rIns="0" bIns="0" rtlCol="0" anchor="b"/>
          <a:lstStyle/>
          <a:p>
            <a:pPr algn="l" indent="0" marL="0">
              <a:buNone/>
            </a:pPr>
            <a:r>
              <a:rPr lang="en-US" sz="4200" b="1" dirty="0">
                <a:solidFill>
                  <a:srgbClr val="FFFFFF"/>
                </a:solidFill>
                <a:latin typeface="Arial" pitchFamily="34" charset="0"/>
                <a:ea typeface="Arial" pitchFamily="34" charset="-122"/>
                <a:cs typeface="Arial" pitchFamily="34" charset="-120"/>
              </a:rPr>
              <a:t>What we learned</a:t>
            </a:r>
            <a:endParaRPr lang="en-US" sz="4200" dirty="0"/>
          </a:p>
        </p:txBody>
      </p:sp>
      <p:sp>
        <p:nvSpPr>
          <p:cNvPr id="3" name="Text 0"/>
          <p:cNvSpPr/>
          <p:nvPr>
            <p:ph idx="101" type="body" hasCustomPrompt="1"/>
          </p:nvPr>
        </p:nvSpPr>
        <p:spPr>
          <a:xfrm>
            <a:off x="548640" y="2423160"/>
            <a:ext cx="8046720" cy="2103120"/>
          </a:xfrm>
          <a:prstGeom prst="rect">
            <a:avLst/>
          </a:prstGeom>
          <a:noFill/>
          <a:ln/>
        </p:spPr>
        <p:txBody>
          <a:bodyPr wrap="square" lIns="0" tIns="0" rIns="0" bIns="0" rtlCol="0" anchor="t"/>
          <a:lstStyle/>
          <a:p>
            <a:pPr algn="l" marL="203200" indent="-203200">
              <a:buSzPct val="100000"/>
              <a:buChar char="•"/>
            </a:pPr>
            <a:r>
              <a:rPr lang="en-US" sz="1800" dirty="0">
                <a:solidFill>
                  <a:srgbClr val="FFFFFF"/>
                </a:solidFill>
                <a:latin typeface="Arial" pitchFamily="34" charset="0"/>
                <a:ea typeface="Arial" pitchFamily="34" charset="-122"/>
                <a:cs typeface="Arial" pitchFamily="34" charset="-120"/>
              </a:rPr>
              <a:t>Kalshi is mostly sports and crypto, and most markets barely trade</a:t>
            </a:r>
            <a:endParaRPr lang="en-US" sz="1800" dirty="0"/>
          </a:p>
          <a:p>
            <a:pPr algn="l" marL="203200" indent="-203200">
              <a:buSzPct val="100000"/>
              <a:buChar char="•"/>
            </a:pPr>
            <a:r>
              <a:rPr lang="en-US" sz="1800" dirty="0">
                <a:solidFill>
                  <a:srgbClr val="FFFFFF"/>
                </a:solidFill>
                <a:latin typeface="Arial" pitchFamily="34" charset="0"/>
                <a:ea typeface="Arial" pitchFamily="34" charset="-122"/>
                <a:cs typeface="Arial" pitchFamily="34" charset="-120"/>
              </a:rPr>
              <a:t>Prices are calibrated within half a point, with a favorite–long-shot bias at the ends</a:t>
            </a:r>
            <a:endParaRPr lang="en-US" sz="1800" dirty="0"/>
          </a:p>
          <a:p>
            <a:pPr algn="l" marL="203200" indent="-203200">
              <a:buSzPct val="100000"/>
              <a:buChar char="•"/>
            </a:pPr>
            <a:r>
              <a:rPr lang="en-US" sz="1800" dirty="0">
                <a:solidFill>
                  <a:srgbClr val="FFFFFF"/>
                </a:solidFill>
                <a:latin typeface="Arial" pitchFamily="34" charset="0"/>
                <a:ea typeface="Arial" pitchFamily="34" charset="-122"/>
                <a:cs typeface="Arial" pitchFamily="34" charset="-120"/>
              </a:rPr>
              <a:t>No model beat the price for favorites, and buying them at the ask lost money</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868680"/>
          </a:xfrm>
          <a:prstGeom prst="rect">
            <a:avLst/>
          </a:prstGeom>
          <a:noFill/>
          <a:ln/>
        </p:spPr>
        <p:txBody>
          <a:bodyPr wrap="square" lIns="0" tIns="0" rIns="0" bIns="0" rtlCol="0" anchor="b"/>
          <a:lstStyle/>
          <a:p>
            <a:pPr algn="l" indent="0" marL="0">
              <a:buNone/>
            </a:pPr>
            <a:r>
              <a:rPr lang="en-US" sz="4200" b="1" dirty="0">
                <a:solidFill>
                  <a:srgbClr val="FFFFFF"/>
                </a:solidFill>
                <a:latin typeface="Arial" pitchFamily="34" charset="0"/>
                <a:ea typeface="Arial" pitchFamily="34" charset="-122"/>
                <a:cs typeface="Arial" pitchFamily="34" charset="-120"/>
              </a:rPr>
              <a:t>Thank you</a:t>
            </a:r>
            <a:endParaRPr lang="en-US" sz="4200" dirty="0"/>
          </a:p>
        </p:txBody>
      </p:sp>
      <p:sp>
        <p:nvSpPr>
          <p:cNvPr id="3" name="Text 0"/>
          <p:cNvSpPr/>
          <p:nvPr>
            <p:ph idx="101" type="body" hasCustomPrompt="1"/>
          </p:nvPr>
        </p:nvSpPr>
        <p:spPr>
          <a:xfrm>
            <a:off x="548640" y="2423160"/>
            <a:ext cx="8046720" cy="2103120"/>
          </a:xfrm>
          <a:prstGeom prst="rect">
            <a:avLst/>
          </a:prstGeom>
          <a:noFill/>
          <a:ln/>
        </p:spPr>
        <p:txBody>
          <a:bodyPr wrap="square" lIns="0" tIns="0" rIns="0" bIns="0" rtlCol="0" anchor="t"/>
          <a:lstStyle/>
          <a:p>
            <a:pPr algn="l" indent="0" marL="0">
              <a:buNone/>
            </a:pPr>
            <a:r>
              <a:rPr lang="en-US" sz="2400" b="1" dirty="0">
                <a:solidFill>
                  <a:srgbClr val="FFD100"/>
                </a:solidFill>
                <a:latin typeface="Arial" pitchFamily="34" charset="0"/>
                <a:ea typeface="Arial" pitchFamily="34" charset="-122"/>
                <a:cs typeface="Arial" pitchFamily="34" charset="-120"/>
              </a:rPr>
              <a:t>Questions?</a:t>
            </a:r>
            <a:endParaRPr lang="en-US" sz="1800" dirty="0"/>
          </a:p>
          <a:p>
            <a:pPr algn="l" indent="0" marL="0">
              <a:buNone/>
            </a:pPr>
            <a:r>
              <a:rPr lang="en-US" sz="1200" dirty="0">
                <a:solidFill>
                  <a:srgbClr val="FFFFFF"/>
                </a:solidFill>
                <a:latin typeface="Arial" pitchFamily="34" charset="0"/>
                <a:ea typeface="Arial" pitchFamily="34" charset="-122"/>
                <a:cs typeface="Arial" pitchFamily="34" charset="-120"/>
              </a:rPr>
              <a:t> </a:t>
            </a:r>
            <a:endParaRPr lang="en-US" sz="1800" dirty="0"/>
          </a:p>
          <a:p>
            <a:pPr algn="l" indent="0" marL="0">
              <a:buNone/>
            </a:pPr>
            <a:r>
              <a:rPr lang="en-US" sz="1400" dirty="0">
                <a:solidFill>
                  <a:srgbClr val="FFFFFF"/>
                </a:solidFill>
                <a:latin typeface="Arial" pitchFamily="34" charset="0"/>
                <a:ea typeface="Arial" pitchFamily="34" charset="-122"/>
                <a:cs typeface="Arial" pitchFamily="34" charset="-120"/>
              </a:rPr>
              <a:t>Juan Cortes-Aguiar  ·  Ravikiran Madichetty  ·  Ashish Singh</a:t>
            </a:r>
            <a:endParaRPr lang="en-US" sz="1800" dirty="0"/>
          </a:p>
          <a:p>
            <a:pPr algn="l" indent="0" marL="0">
              <a:buNone/>
            </a:pPr>
            <a:r>
              <a:rPr lang="en-US" sz="1200" dirty="0">
                <a:solidFill>
                  <a:srgbClr val="FFFFFF"/>
                </a:solidFill>
                <a:latin typeface="Arial" pitchFamily="34" charset="0"/>
                <a:ea typeface="Arial" pitchFamily="34" charset="-122"/>
                <a:cs typeface="Arial" pitchFamily="34" charset="-120"/>
              </a:rPr>
              <a:t>STATS 414  ·  UCLA  ·  Fall 2026</a:t>
            </a:r>
            <a:endParaRPr lang="en-US" sz="1800" dirty="0"/>
          </a:p>
        </p:txBody>
      </p:sp>
    </p:spTree>
  </p:cSld>
  <p:clrMapOvr>
    <a:masterClrMapping/>
  </p:clrMapOvr>
</p:sld>
</file>

<file path=ppt/theme/theme1.xml><?xml version="1.0" encoding="utf-8"?>
<a:theme xmlns:a="http://schemas.openxmlformats.org/drawingml/2006/main" name="UCLA STATS 414">
  <a:themeElements>
    <a:clrScheme name="UCLA STATS 414">
      <a:dk1>
        <a:srgbClr val="333333"/>
      </a:dk1>
      <a:lt1>
        <a:srgbClr val="FFFFFF"/>
      </a:lt1>
      <a:dk2>
        <a:srgbClr val="005587"/>
      </a:dk2>
      <a:lt2>
        <a:srgbClr val="DAEBFE"/>
      </a:lt2>
      <a:accent1>
        <a:srgbClr val="2774AE"/>
      </a:accent1>
      <a:accent2>
        <a:srgbClr val="FFD100"/>
      </a:accent2>
      <a:accent3>
        <a:srgbClr val="003B5C"/>
      </a:accent3>
      <a:accent4>
        <a:srgbClr val="8BB8E8"/>
      </a:accent4>
      <a:accent5>
        <a:srgbClr val="FFB81C"/>
      </a:accent5>
      <a:accent6>
        <a:srgbClr val="999999"/>
      </a:accent6>
      <a:hlink>
        <a:srgbClr val="00598C"/>
      </a:hlink>
      <a:folHlink>
        <a:srgbClr val="5223B0"/>
      </a:folHlink>
    </a:clrScheme>
    <a:fontScheme name="UCLA STATS 414">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UCLA STATS 414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99-Cent Question: How Accurate Are Kalshi’s Odds? STATS 414 midterm</dc:title>
  <dc:subject>PptxGenJS Presentation</dc:subject>
  <dc:creator>Juan Cortes-Aguiar, Ravikiran Madichetty, Ashish Singh</dc:creator>
  <cp:lastModifiedBy>Juan Cortes-Aguiar, Ravikiran Madichetty, Ashish Singh</cp:lastModifiedBy>
  <cp:revision>1</cp:revision>
  <dcterms:created xsi:type="dcterms:W3CDTF">2026-10-29T00:19:44Z</dcterms:created>
  <dcterms:modified xsi:type="dcterms:W3CDTF">2026-10-29T00:19:44Z</dcterms:modified>
</cp:coreProperties>
</file>